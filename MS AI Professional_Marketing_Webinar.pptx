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90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E3FA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E3FA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E3FA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E3FA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592" y="9"/>
            <a:ext cx="175895" cy="355600"/>
          </a:xfrm>
          <a:custGeom>
            <a:avLst/>
            <a:gdLst/>
            <a:ahLst/>
            <a:cxnLst/>
            <a:rect l="l" t="t" r="r" b="b"/>
            <a:pathLst>
              <a:path w="175895" h="355600">
                <a:moveTo>
                  <a:pt x="175499" y="355499"/>
                </a:moveTo>
                <a:lnTo>
                  <a:pt x="0" y="355499"/>
                </a:lnTo>
                <a:lnTo>
                  <a:pt x="0" y="0"/>
                </a:lnTo>
                <a:lnTo>
                  <a:pt x="175499" y="0"/>
                </a:lnTo>
                <a:lnTo>
                  <a:pt x="175499" y="355499"/>
                </a:lnTo>
                <a:close/>
              </a:path>
            </a:pathLst>
          </a:custGeom>
          <a:solidFill>
            <a:srgbClr val="0E3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592" y="353729"/>
            <a:ext cx="175895" cy="355600"/>
          </a:xfrm>
          <a:custGeom>
            <a:avLst/>
            <a:gdLst/>
            <a:ahLst/>
            <a:cxnLst/>
            <a:rect l="l" t="t" r="r" b="b"/>
            <a:pathLst>
              <a:path w="175895" h="355600">
                <a:moveTo>
                  <a:pt x="175499" y="355499"/>
                </a:moveTo>
                <a:lnTo>
                  <a:pt x="0" y="355499"/>
                </a:lnTo>
                <a:lnTo>
                  <a:pt x="0" y="0"/>
                </a:lnTo>
                <a:lnTo>
                  <a:pt x="175499" y="0"/>
                </a:lnTo>
                <a:lnTo>
                  <a:pt x="175499" y="355499"/>
                </a:lnTo>
                <a:close/>
              </a:path>
            </a:pathLst>
          </a:custGeom>
          <a:solidFill>
            <a:srgbClr val="187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949" y="43306"/>
            <a:ext cx="5632535" cy="6494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E3FA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148" y="1642179"/>
            <a:ext cx="7013575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12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768" y="2172622"/>
            <a:ext cx="628205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500" spc="325" dirty="0"/>
              <a:t>Deploying</a:t>
            </a:r>
            <a:r>
              <a:rPr sz="2500" spc="155" dirty="0"/>
              <a:t> </a:t>
            </a:r>
            <a:r>
              <a:rPr sz="2500" spc="260" dirty="0"/>
              <a:t>Neural</a:t>
            </a:r>
            <a:r>
              <a:rPr sz="2500" spc="155" dirty="0"/>
              <a:t> </a:t>
            </a:r>
            <a:r>
              <a:rPr sz="2500" spc="310" dirty="0"/>
              <a:t>Network</a:t>
            </a:r>
            <a:r>
              <a:rPr sz="2500" spc="160" dirty="0"/>
              <a:t> </a:t>
            </a:r>
            <a:r>
              <a:rPr sz="2500" spc="270" dirty="0"/>
              <a:t>Models</a:t>
            </a:r>
            <a:r>
              <a:rPr sz="2500" spc="155" dirty="0"/>
              <a:t> </a:t>
            </a:r>
            <a:r>
              <a:rPr sz="2500" spc="180" dirty="0"/>
              <a:t>for </a:t>
            </a:r>
            <a:r>
              <a:rPr sz="2500" spc="330" dirty="0"/>
              <a:t>Customer</a:t>
            </a:r>
            <a:r>
              <a:rPr sz="2500" spc="165" dirty="0"/>
              <a:t> </a:t>
            </a:r>
            <a:r>
              <a:rPr sz="2500" spc="355" dirty="0"/>
              <a:t>Churn</a:t>
            </a:r>
            <a:r>
              <a:rPr sz="2500" spc="170" dirty="0"/>
              <a:t> </a:t>
            </a:r>
            <a:r>
              <a:rPr sz="2500" spc="280" dirty="0"/>
              <a:t>Prediction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4294967295"/>
          </p:nvPr>
        </p:nvSpPr>
        <p:spPr>
          <a:xfrm>
            <a:off x="2424264" y="4986134"/>
            <a:ext cx="4311015" cy="14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Proprietary</a:t>
            </a:r>
            <a:r>
              <a:rPr spc="5" dirty="0"/>
              <a:t> </a:t>
            </a:r>
            <a:r>
              <a:rPr spc="-10" dirty="0"/>
              <a:t>content.</a:t>
            </a:r>
            <a:r>
              <a:rPr spc="10" dirty="0"/>
              <a:t> </a:t>
            </a:r>
            <a:r>
              <a:rPr spc="55" dirty="0"/>
              <a:t>©</a:t>
            </a:r>
            <a:r>
              <a:rPr spc="10" dirty="0"/>
              <a:t> </a:t>
            </a:r>
            <a:r>
              <a:rPr spc="-25" dirty="0"/>
              <a:t>Great</a:t>
            </a:r>
            <a:r>
              <a:rPr spc="10" dirty="0"/>
              <a:t> </a:t>
            </a:r>
            <a:r>
              <a:rPr spc="-10" dirty="0"/>
              <a:t>Learning.</a:t>
            </a:r>
            <a:r>
              <a:rPr spc="1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dirty="0"/>
              <a:t>Reserved.</a:t>
            </a:r>
            <a:r>
              <a:rPr spc="10" dirty="0"/>
              <a:t> </a:t>
            </a:r>
            <a:r>
              <a:rPr spc="-20" dirty="0"/>
              <a:t>Unauthorized</a:t>
            </a:r>
            <a:r>
              <a:rPr spc="10" dirty="0"/>
              <a:t> </a:t>
            </a:r>
            <a:r>
              <a:rPr dirty="0"/>
              <a:t>use</a:t>
            </a:r>
            <a:r>
              <a:rPr spc="10" dirty="0"/>
              <a:t> </a:t>
            </a:r>
            <a:r>
              <a:rPr spc="-10" dirty="0"/>
              <a:t>or</a:t>
            </a:r>
            <a:r>
              <a:rPr spc="10" dirty="0"/>
              <a:t> </a:t>
            </a:r>
            <a:r>
              <a:rPr spc="-10" dirty="0"/>
              <a:t>distribution</a:t>
            </a:r>
            <a:r>
              <a:rPr spc="10" dirty="0"/>
              <a:t> </a:t>
            </a:r>
            <a:r>
              <a:rPr spc="-10" dirty="0"/>
              <a:t>prohibited.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577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3000" spc="455" dirty="0"/>
              <a:t>Agenda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pc="145" dirty="0"/>
              <a:t>Big</a:t>
            </a:r>
            <a:r>
              <a:rPr spc="-30" dirty="0"/>
              <a:t> </a:t>
            </a:r>
            <a:r>
              <a:rPr spc="65" dirty="0"/>
              <a:t>Picture</a:t>
            </a:r>
            <a:r>
              <a:rPr spc="-30" dirty="0"/>
              <a:t> </a:t>
            </a:r>
            <a:r>
              <a:rPr spc="80" dirty="0"/>
              <a:t>-</a:t>
            </a:r>
            <a:r>
              <a:rPr spc="-30" dirty="0"/>
              <a:t> </a:t>
            </a:r>
            <a:r>
              <a:rPr dirty="0"/>
              <a:t>Deep</a:t>
            </a:r>
            <a:r>
              <a:rPr spc="-30" dirty="0"/>
              <a:t> </a:t>
            </a:r>
            <a:r>
              <a:rPr spc="50" dirty="0"/>
              <a:t>Learning</a:t>
            </a:r>
            <a:r>
              <a:rPr spc="-30" dirty="0"/>
              <a:t> </a:t>
            </a:r>
            <a:r>
              <a:rPr spc="-10" dirty="0"/>
              <a:t>Lifecycle</a:t>
            </a:r>
          </a:p>
          <a:p>
            <a:pPr marL="379095" indent="-366395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spc="50" dirty="0"/>
              <a:t>Azure</a:t>
            </a:r>
            <a:r>
              <a:rPr dirty="0"/>
              <a:t> Cloud services</a:t>
            </a:r>
            <a:r>
              <a:rPr spc="5" dirty="0"/>
              <a:t> </a:t>
            </a:r>
            <a:r>
              <a:rPr spc="50" dirty="0"/>
              <a:t>for</a:t>
            </a:r>
            <a:r>
              <a:rPr dirty="0"/>
              <a:t> </a:t>
            </a:r>
            <a:r>
              <a:rPr spc="-10" dirty="0"/>
              <a:t>Data</a:t>
            </a:r>
            <a:r>
              <a:rPr spc="5" dirty="0"/>
              <a:t> </a:t>
            </a:r>
            <a:r>
              <a:rPr spc="80" dirty="0"/>
              <a:t>Solutions</a:t>
            </a:r>
          </a:p>
          <a:p>
            <a:pPr marL="379095" indent="-366395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dirty="0"/>
              <a:t>Deep</a:t>
            </a:r>
            <a:r>
              <a:rPr spc="45" dirty="0"/>
              <a:t> </a:t>
            </a:r>
            <a:r>
              <a:rPr spc="50" dirty="0"/>
              <a:t>Learning</a:t>
            </a:r>
            <a:r>
              <a:rPr spc="45" dirty="0"/>
              <a:t> </a:t>
            </a:r>
            <a:r>
              <a:rPr dirty="0"/>
              <a:t>Architecture</a:t>
            </a:r>
            <a:r>
              <a:rPr spc="50" dirty="0"/>
              <a:t> </a:t>
            </a:r>
            <a:r>
              <a:rPr dirty="0"/>
              <a:t>on</a:t>
            </a:r>
            <a:r>
              <a:rPr spc="45" dirty="0"/>
              <a:t> </a:t>
            </a:r>
            <a:r>
              <a:rPr spc="40" dirty="0"/>
              <a:t>Azure</a:t>
            </a:r>
          </a:p>
          <a:p>
            <a:pPr marL="379095" indent="-366395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dirty="0"/>
              <a:t>Neural</a:t>
            </a:r>
            <a:r>
              <a:rPr spc="80" dirty="0"/>
              <a:t> </a:t>
            </a:r>
            <a:r>
              <a:rPr spc="65" dirty="0"/>
              <a:t>Network</a:t>
            </a:r>
            <a:r>
              <a:rPr spc="85" dirty="0"/>
              <a:t> </a:t>
            </a:r>
            <a:r>
              <a:rPr spc="40" dirty="0"/>
              <a:t>models</a:t>
            </a:r>
          </a:p>
          <a:p>
            <a:pPr marL="379095" marR="5080" indent="-367030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spc="55" dirty="0"/>
              <a:t>Understand</a:t>
            </a:r>
            <a:r>
              <a:rPr spc="50" dirty="0"/>
              <a:t> </a:t>
            </a:r>
            <a:r>
              <a:rPr spc="120" dirty="0"/>
              <a:t>NN</a:t>
            </a:r>
            <a:r>
              <a:rPr spc="50" dirty="0"/>
              <a:t> </a:t>
            </a:r>
            <a:r>
              <a:rPr spc="80" dirty="0"/>
              <a:t>Training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Deployment</a:t>
            </a:r>
            <a:r>
              <a:rPr spc="50" dirty="0"/>
              <a:t> (Hands-</a:t>
            </a:r>
            <a:r>
              <a:rPr dirty="0"/>
              <a:t>on</a:t>
            </a:r>
            <a:r>
              <a:rPr spc="50" dirty="0"/>
              <a:t> </a:t>
            </a:r>
            <a:r>
              <a:rPr spc="75" dirty="0"/>
              <a:t>with </a:t>
            </a:r>
            <a:r>
              <a:rPr spc="50" dirty="0"/>
              <a:t>Azure</a:t>
            </a:r>
            <a:r>
              <a:rPr spc="-30" dirty="0"/>
              <a:t> </a:t>
            </a:r>
            <a:r>
              <a:rPr spc="45" dirty="0"/>
              <a:t>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1556" y="1180102"/>
            <a:ext cx="5476875" cy="3011805"/>
            <a:chOff x="2741556" y="1180102"/>
            <a:chExt cx="5476875" cy="3011805"/>
          </a:xfrm>
        </p:grpSpPr>
        <p:sp>
          <p:nvSpPr>
            <p:cNvPr id="3" name="object 3"/>
            <p:cNvSpPr/>
            <p:nvPr/>
          </p:nvSpPr>
          <p:spPr>
            <a:xfrm>
              <a:off x="2746319" y="1207285"/>
              <a:ext cx="3467100" cy="2954655"/>
            </a:xfrm>
            <a:custGeom>
              <a:avLst/>
              <a:gdLst/>
              <a:ahLst/>
              <a:cxnLst/>
              <a:rect l="l" t="t" r="r" b="b"/>
              <a:pathLst>
                <a:path w="3467100" h="2954654">
                  <a:moveTo>
                    <a:pt x="0" y="1477184"/>
                  </a:moveTo>
                  <a:lnTo>
                    <a:pt x="738598" y="0"/>
                  </a:lnTo>
                  <a:lnTo>
                    <a:pt x="2728044" y="0"/>
                  </a:lnTo>
                  <a:lnTo>
                    <a:pt x="3466643" y="1477184"/>
                  </a:lnTo>
                  <a:lnTo>
                    <a:pt x="2728044" y="2954381"/>
                  </a:lnTo>
                  <a:lnTo>
                    <a:pt x="738598" y="2954381"/>
                  </a:lnTo>
                  <a:lnTo>
                    <a:pt x="0" y="1477184"/>
                  </a:lnTo>
                  <a:close/>
                </a:path>
              </a:pathLst>
            </a:custGeom>
            <a:ln w="9524">
              <a:solidFill>
                <a:srgbClr val="1F49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44609" y="1180109"/>
              <a:ext cx="3059430" cy="3011805"/>
            </a:xfrm>
            <a:custGeom>
              <a:avLst/>
              <a:gdLst/>
              <a:ahLst/>
              <a:cxnLst/>
              <a:rect l="l" t="t" r="r" b="b"/>
              <a:pathLst>
                <a:path w="3059429" h="3011804">
                  <a:moveTo>
                    <a:pt x="63982" y="1952434"/>
                  </a:moveTo>
                  <a:lnTo>
                    <a:pt x="0" y="1901164"/>
                  </a:lnTo>
                  <a:lnTo>
                    <a:pt x="13627" y="1980996"/>
                  </a:lnTo>
                  <a:lnTo>
                    <a:pt x="63982" y="1952434"/>
                  </a:lnTo>
                  <a:close/>
                </a:path>
                <a:path w="3059429" h="3011804">
                  <a:moveTo>
                    <a:pt x="350875" y="431749"/>
                  </a:moveTo>
                  <a:lnTo>
                    <a:pt x="286905" y="483031"/>
                  </a:lnTo>
                  <a:lnTo>
                    <a:pt x="337248" y="511581"/>
                  </a:lnTo>
                  <a:lnTo>
                    <a:pt x="350875" y="431749"/>
                  </a:lnTo>
                  <a:close/>
                </a:path>
                <a:path w="3059429" h="3011804">
                  <a:moveTo>
                    <a:pt x="1085049" y="2953816"/>
                  </a:moveTo>
                  <a:lnTo>
                    <a:pt x="1007757" y="2982518"/>
                  </a:lnTo>
                  <a:lnTo>
                    <a:pt x="1085049" y="3011208"/>
                  </a:lnTo>
                  <a:lnTo>
                    <a:pt x="1085049" y="2953816"/>
                  </a:lnTo>
                  <a:close/>
                </a:path>
                <a:path w="3059429" h="3011804">
                  <a:moveTo>
                    <a:pt x="2062619" y="28702"/>
                  </a:moveTo>
                  <a:lnTo>
                    <a:pt x="1985327" y="0"/>
                  </a:lnTo>
                  <a:lnTo>
                    <a:pt x="1985327" y="57404"/>
                  </a:lnTo>
                  <a:lnTo>
                    <a:pt x="2062619" y="28702"/>
                  </a:lnTo>
                  <a:close/>
                </a:path>
                <a:path w="3059429" h="3011804">
                  <a:moveTo>
                    <a:pt x="2790367" y="2514536"/>
                  </a:moveTo>
                  <a:lnTo>
                    <a:pt x="2740025" y="2485987"/>
                  </a:lnTo>
                  <a:lnTo>
                    <a:pt x="2726398" y="2565844"/>
                  </a:lnTo>
                  <a:lnTo>
                    <a:pt x="2790367" y="2514536"/>
                  </a:lnTo>
                  <a:close/>
                </a:path>
                <a:path w="3059429" h="3011804">
                  <a:moveTo>
                    <a:pt x="3058896" y="1090434"/>
                  </a:moveTo>
                  <a:lnTo>
                    <a:pt x="3045269" y="1010602"/>
                  </a:lnTo>
                  <a:lnTo>
                    <a:pt x="2994926" y="1039152"/>
                  </a:lnTo>
                  <a:lnTo>
                    <a:pt x="3058896" y="1090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32561" y="2458500"/>
              <a:ext cx="1585595" cy="520700"/>
            </a:xfrm>
            <a:custGeom>
              <a:avLst/>
              <a:gdLst/>
              <a:ahLst/>
              <a:cxnLst/>
              <a:rect l="l" t="t" r="r" b="b"/>
              <a:pathLst>
                <a:path w="1585595" h="520700">
                  <a:moveTo>
                    <a:pt x="1498796" y="520193"/>
                  </a:moveTo>
                  <a:lnTo>
                    <a:pt x="86699" y="520193"/>
                  </a:lnTo>
                  <a:lnTo>
                    <a:pt x="52955" y="513379"/>
                  </a:lnTo>
                  <a:lnTo>
                    <a:pt x="25396" y="494797"/>
                  </a:lnTo>
                  <a:lnTo>
                    <a:pt x="6814" y="467238"/>
                  </a:lnTo>
                  <a:lnTo>
                    <a:pt x="0" y="433494"/>
                  </a:lnTo>
                  <a:lnTo>
                    <a:pt x="0" y="86694"/>
                  </a:lnTo>
                  <a:lnTo>
                    <a:pt x="6814" y="52950"/>
                  </a:lnTo>
                  <a:lnTo>
                    <a:pt x="25396" y="25393"/>
                  </a:lnTo>
                  <a:lnTo>
                    <a:pt x="52955" y="6813"/>
                  </a:lnTo>
                  <a:lnTo>
                    <a:pt x="86699" y="0"/>
                  </a:lnTo>
                  <a:lnTo>
                    <a:pt x="1498796" y="0"/>
                  </a:lnTo>
                  <a:lnTo>
                    <a:pt x="1546897" y="14565"/>
                  </a:lnTo>
                  <a:lnTo>
                    <a:pt x="1578899" y="53513"/>
                  </a:lnTo>
                  <a:lnTo>
                    <a:pt x="1585496" y="86694"/>
                  </a:lnTo>
                  <a:lnTo>
                    <a:pt x="1585496" y="433494"/>
                  </a:lnTo>
                  <a:lnTo>
                    <a:pt x="1578682" y="467238"/>
                  </a:lnTo>
                  <a:lnTo>
                    <a:pt x="1560099" y="494797"/>
                  </a:lnTo>
                  <a:lnTo>
                    <a:pt x="1532541" y="513379"/>
                  </a:lnTo>
                  <a:lnTo>
                    <a:pt x="1498796" y="52019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76093" y="2597570"/>
            <a:ext cx="1316355" cy="23685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255" marR="5080" indent="-377190">
              <a:lnSpc>
                <a:spcPts val="819"/>
              </a:lnSpc>
              <a:spcBef>
                <a:spcPts val="140"/>
              </a:spcBef>
            </a:pPr>
            <a:r>
              <a:rPr sz="700" dirty="0">
                <a:latin typeface="Century Gothic"/>
                <a:cs typeface="Century Gothic"/>
              </a:rPr>
              <a:t>Train</a:t>
            </a:r>
            <a:r>
              <a:rPr sz="700" spc="105" dirty="0">
                <a:latin typeface="Century Gothic"/>
                <a:cs typeface="Century Gothic"/>
              </a:rPr>
              <a:t> </a:t>
            </a:r>
            <a:r>
              <a:rPr sz="700" spc="-65" dirty="0">
                <a:latin typeface="Century Gothic"/>
                <a:cs typeface="Century Gothic"/>
              </a:rPr>
              <a:t>a</a:t>
            </a:r>
            <a:r>
              <a:rPr sz="700" spc="11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model</a:t>
            </a:r>
            <a:r>
              <a:rPr sz="700" spc="10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using</a:t>
            </a:r>
            <a:r>
              <a:rPr sz="700" spc="11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the</a:t>
            </a:r>
            <a:r>
              <a:rPr sz="700" spc="105" dirty="0">
                <a:latin typeface="Century Gothic"/>
                <a:cs typeface="Century Gothic"/>
              </a:rPr>
              <a:t> </a:t>
            </a:r>
            <a:r>
              <a:rPr sz="700" spc="-25" dirty="0">
                <a:latin typeface="Century Gothic"/>
                <a:cs typeface="Century Gothic"/>
              </a:rPr>
              <a:t>data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to</a:t>
            </a:r>
            <a:r>
              <a:rPr sz="700" spc="27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classify,</a:t>
            </a:r>
            <a:r>
              <a:rPr sz="700" spc="3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or</a:t>
            </a:r>
            <a:r>
              <a:rPr sz="700" spc="40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detect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7056" y="976298"/>
            <a:ext cx="1585595" cy="520700"/>
          </a:xfrm>
          <a:custGeom>
            <a:avLst/>
            <a:gdLst/>
            <a:ahLst/>
            <a:cxnLst/>
            <a:rect l="l" t="t" r="r" b="b"/>
            <a:pathLst>
              <a:path w="1585595" h="520700">
                <a:moveTo>
                  <a:pt x="1498786" y="520198"/>
                </a:moveTo>
                <a:lnTo>
                  <a:pt x="86702" y="520198"/>
                </a:lnTo>
                <a:lnTo>
                  <a:pt x="52953" y="513385"/>
                </a:lnTo>
                <a:lnTo>
                  <a:pt x="25394" y="494804"/>
                </a:lnTo>
                <a:lnTo>
                  <a:pt x="6813" y="467245"/>
                </a:lnTo>
                <a:lnTo>
                  <a:pt x="0" y="433496"/>
                </a:lnTo>
                <a:lnTo>
                  <a:pt x="0" y="86699"/>
                </a:lnTo>
                <a:lnTo>
                  <a:pt x="6813" y="52952"/>
                </a:lnTo>
                <a:lnTo>
                  <a:pt x="25394" y="25394"/>
                </a:lnTo>
                <a:lnTo>
                  <a:pt x="52953" y="6813"/>
                </a:lnTo>
                <a:lnTo>
                  <a:pt x="86702" y="0"/>
                </a:lnTo>
                <a:lnTo>
                  <a:pt x="1498786" y="0"/>
                </a:lnTo>
                <a:lnTo>
                  <a:pt x="1546898" y="14566"/>
                </a:lnTo>
                <a:lnTo>
                  <a:pt x="1578893" y="53520"/>
                </a:lnTo>
                <a:lnTo>
                  <a:pt x="1585486" y="86699"/>
                </a:lnTo>
                <a:lnTo>
                  <a:pt x="1585486" y="433496"/>
                </a:lnTo>
                <a:lnTo>
                  <a:pt x="1578675" y="467245"/>
                </a:lnTo>
                <a:lnTo>
                  <a:pt x="1560099" y="494804"/>
                </a:lnTo>
                <a:lnTo>
                  <a:pt x="1532541" y="513385"/>
                </a:lnTo>
                <a:lnTo>
                  <a:pt x="1498786" y="52019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14055" y="1062981"/>
            <a:ext cx="1228725" cy="341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40"/>
              </a:spcBef>
            </a:pPr>
            <a:r>
              <a:rPr sz="700" dirty="0">
                <a:latin typeface="Century Gothic"/>
                <a:cs typeface="Century Gothic"/>
              </a:rPr>
              <a:t>Monitor</a:t>
            </a:r>
            <a:r>
              <a:rPr sz="700" spc="6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for</a:t>
            </a:r>
            <a:r>
              <a:rPr sz="700" spc="6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bias,</a:t>
            </a:r>
            <a:r>
              <a:rPr sz="700" spc="65" dirty="0">
                <a:latin typeface="Century Gothic"/>
                <a:cs typeface="Century Gothic"/>
              </a:rPr>
              <a:t> </a:t>
            </a:r>
            <a:r>
              <a:rPr sz="700" spc="-20" dirty="0">
                <a:latin typeface="Century Gothic"/>
                <a:cs typeface="Century Gothic"/>
              </a:rPr>
              <a:t>data</a:t>
            </a:r>
            <a:r>
              <a:rPr sz="700" spc="65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drift,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concept</a:t>
            </a:r>
            <a:r>
              <a:rPr sz="700" spc="5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drift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and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spc="-20" dirty="0">
                <a:latin typeface="Century Gothic"/>
                <a:cs typeface="Century Gothic"/>
              </a:rPr>
              <a:t>model</a:t>
            </a:r>
            <a:r>
              <a:rPr sz="700" spc="10" dirty="0">
                <a:latin typeface="Century Gothic"/>
                <a:cs typeface="Century Gothic"/>
              </a:rPr>
              <a:t> drift</a:t>
            </a:r>
            <a:r>
              <a:rPr sz="700" spc="25" dirty="0">
                <a:latin typeface="Century Gothic"/>
                <a:cs typeface="Century Gothic"/>
              </a:rPr>
              <a:t> </a:t>
            </a:r>
            <a:r>
              <a:rPr sz="700" spc="10" dirty="0">
                <a:latin typeface="Century Gothic"/>
                <a:cs typeface="Century Gothic"/>
              </a:rPr>
              <a:t>-</a:t>
            </a:r>
            <a:r>
              <a:rPr sz="700" spc="25" dirty="0">
                <a:latin typeface="Century Gothic"/>
                <a:cs typeface="Century Gothic"/>
              </a:rPr>
              <a:t> </a:t>
            </a:r>
            <a:r>
              <a:rPr sz="700" spc="10" dirty="0">
                <a:latin typeface="Century Gothic"/>
                <a:cs typeface="Century Gothic"/>
              </a:rPr>
              <a:t>alert</a:t>
            </a:r>
            <a:r>
              <a:rPr sz="700" spc="3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and</a:t>
            </a:r>
            <a:r>
              <a:rPr sz="700" spc="25" dirty="0">
                <a:latin typeface="Century Gothic"/>
                <a:cs typeface="Century Gothic"/>
              </a:rPr>
              <a:t> </a:t>
            </a:r>
            <a:r>
              <a:rPr sz="700" spc="10" dirty="0">
                <a:latin typeface="Century Gothic"/>
                <a:cs typeface="Century Gothic"/>
              </a:rPr>
              <a:t>take</a:t>
            </a:r>
            <a:r>
              <a:rPr sz="700" spc="30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action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96963" y="976298"/>
            <a:ext cx="1585595" cy="520700"/>
          </a:xfrm>
          <a:custGeom>
            <a:avLst/>
            <a:gdLst/>
            <a:ahLst/>
            <a:cxnLst/>
            <a:rect l="l" t="t" r="r" b="b"/>
            <a:pathLst>
              <a:path w="1585595" h="520700">
                <a:moveTo>
                  <a:pt x="1498796" y="520198"/>
                </a:moveTo>
                <a:lnTo>
                  <a:pt x="86699" y="520198"/>
                </a:lnTo>
                <a:lnTo>
                  <a:pt x="52955" y="513385"/>
                </a:lnTo>
                <a:lnTo>
                  <a:pt x="25396" y="494804"/>
                </a:lnTo>
                <a:lnTo>
                  <a:pt x="6814" y="467245"/>
                </a:lnTo>
                <a:lnTo>
                  <a:pt x="0" y="433496"/>
                </a:lnTo>
                <a:lnTo>
                  <a:pt x="0" y="86699"/>
                </a:lnTo>
                <a:lnTo>
                  <a:pt x="6814" y="52952"/>
                </a:lnTo>
                <a:lnTo>
                  <a:pt x="25396" y="25394"/>
                </a:lnTo>
                <a:lnTo>
                  <a:pt x="52955" y="6813"/>
                </a:lnTo>
                <a:lnTo>
                  <a:pt x="86699" y="0"/>
                </a:lnTo>
                <a:lnTo>
                  <a:pt x="1498796" y="0"/>
                </a:lnTo>
                <a:lnTo>
                  <a:pt x="1546897" y="14566"/>
                </a:lnTo>
                <a:lnTo>
                  <a:pt x="1578899" y="53520"/>
                </a:lnTo>
                <a:lnTo>
                  <a:pt x="1585496" y="86699"/>
                </a:lnTo>
                <a:lnTo>
                  <a:pt x="1585496" y="433496"/>
                </a:lnTo>
                <a:lnTo>
                  <a:pt x="1578685" y="467245"/>
                </a:lnTo>
                <a:lnTo>
                  <a:pt x="1560109" y="494804"/>
                </a:lnTo>
                <a:lnTo>
                  <a:pt x="1532551" y="513385"/>
                </a:lnTo>
                <a:lnTo>
                  <a:pt x="1498796" y="52019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60491" y="1167756"/>
            <a:ext cx="12960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Century Gothic"/>
                <a:cs typeface="Century Gothic"/>
              </a:rPr>
              <a:t>Get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spc="-20" dirty="0">
                <a:latin typeface="Century Gothic"/>
                <a:cs typeface="Century Gothic"/>
              </a:rPr>
              <a:t>data</a:t>
            </a:r>
            <a:r>
              <a:rPr sz="700" spc="6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into</a:t>
            </a:r>
            <a:r>
              <a:rPr sz="700" spc="6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the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right</a:t>
            </a:r>
            <a:r>
              <a:rPr sz="700" spc="325" dirty="0">
                <a:latin typeface="Century Gothic"/>
                <a:cs typeface="Century Gothic"/>
              </a:rPr>
              <a:t> </a:t>
            </a:r>
            <a:r>
              <a:rPr sz="700" spc="-20" dirty="0">
                <a:latin typeface="Century Gothic"/>
                <a:cs typeface="Century Gothic"/>
              </a:rPr>
              <a:t>form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7056" y="3962967"/>
            <a:ext cx="1585595" cy="520700"/>
          </a:xfrm>
          <a:custGeom>
            <a:avLst/>
            <a:gdLst/>
            <a:ahLst/>
            <a:cxnLst/>
            <a:rect l="l" t="t" r="r" b="b"/>
            <a:pathLst>
              <a:path w="1585595" h="520700">
                <a:moveTo>
                  <a:pt x="1498786" y="520198"/>
                </a:moveTo>
                <a:lnTo>
                  <a:pt x="86699" y="520198"/>
                </a:lnTo>
                <a:lnTo>
                  <a:pt x="52952" y="513384"/>
                </a:lnTo>
                <a:lnTo>
                  <a:pt x="25394" y="494802"/>
                </a:lnTo>
                <a:lnTo>
                  <a:pt x="6813" y="467243"/>
                </a:lnTo>
                <a:lnTo>
                  <a:pt x="0" y="433499"/>
                </a:lnTo>
                <a:lnTo>
                  <a:pt x="0" y="86699"/>
                </a:lnTo>
                <a:lnTo>
                  <a:pt x="6813" y="52955"/>
                </a:lnTo>
                <a:lnTo>
                  <a:pt x="25394" y="25396"/>
                </a:lnTo>
                <a:lnTo>
                  <a:pt x="52952" y="6814"/>
                </a:lnTo>
                <a:lnTo>
                  <a:pt x="86699" y="0"/>
                </a:lnTo>
                <a:lnTo>
                  <a:pt x="1498786" y="0"/>
                </a:lnTo>
                <a:lnTo>
                  <a:pt x="1546898" y="14565"/>
                </a:lnTo>
                <a:lnTo>
                  <a:pt x="1578893" y="53518"/>
                </a:lnTo>
                <a:lnTo>
                  <a:pt x="1585486" y="86699"/>
                </a:lnTo>
                <a:lnTo>
                  <a:pt x="1585486" y="433499"/>
                </a:lnTo>
                <a:lnTo>
                  <a:pt x="1578675" y="467243"/>
                </a:lnTo>
                <a:lnTo>
                  <a:pt x="1560099" y="494802"/>
                </a:lnTo>
                <a:lnTo>
                  <a:pt x="1532541" y="513384"/>
                </a:lnTo>
                <a:lnTo>
                  <a:pt x="1498786" y="52019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14045" y="4049653"/>
            <a:ext cx="1016000" cy="341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40"/>
              </a:spcBef>
            </a:pPr>
            <a:r>
              <a:rPr sz="700" dirty="0">
                <a:latin typeface="Century Gothic"/>
                <a:cs typeface="Century Gothic"/>
              </a:rPr>
              <a:t>Evaluate</a:t>
            </a:r>
            <a:r>
              <a:rPr sz="700" spc="7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your</a:t>
            </a:r>
            <a:r>
              <a:rPr sz="700" spc="75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model’s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performance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-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check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spc="-30" dirty="0">
                <a:latin typeface="Century Gothic"/>
                <a:cs typeface="Century Gothic"/>
              </a:rPr>
              <a:t>accuracy,</a:t>
            </a:r>
            <a:r>
              <a:rPr sz="700" spc="7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error</a:t>
            </a:r>
            <a:r>
              <a:rPr sz="700" spc="80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rates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6688" y="3962967"/>
            <a:ext cx="1585595" cy="520700"/>
          </a:xfrm>
          <a:custGeom>
            <a:avLst/>
            <a:gdLst/>
            <a:ahLst/>
            <a:cxnLst/>
            <a:rect l="l" t="t" r="r" b="b"/>
            <a:pathLst>
              <a:path w="1585595" h="520700">
                <a:moveTo>
                  <a:pt x="1498796" y="520198"/>
                </a:moveTo>
                <a:lnTo>
                  <a:pt x="86699" y="520198"/>
                </a:lnTo>
                <a:lnTo>
                  <a:pt x="52955" y="513384"/>
                </a:lnTo>
                <a:lnTo>
                  <a:pt x="25396" y="494802"/>
                </a:lnTo>
                <a:lnTo>
                  <a:pt x="6814" y="467243"/>
                </a:lnTo>
                <a:lnTo>
                  <a:pt x="0" y="433499"/>
                </a:lnTo>
                <a:lnTo>
                  <a:pt x="0" y="86699"/>
                </a:lnTo>
                <a:lnTo>
                  <a:pt x="6814" y="52955"/>
                </a:lnTo>
                <a:lnTo>
                  <a:pt x="25396" y="25396"/>
                </a:lnTo>
                <a:lnTo>
                  <a:pt x="52955" y="6814"/>
                </a:lnTo>
                <a:lnTo>
                  <a:pt x="86699" y="0"/>
                </a:lnTo>
                <a:lnTo>
                  <a:pt x="1498796" y="0"/>
                </a:lnTo>
                <a:lnTo>
                  <a:pt x="1546897" y="14575"/>
                </a:lnTo>
                <a:lnTo>
                  <a:pt x="1578899" y="53518"/>
                </a:lnTo>
                <a:lnTo>
                  <a:pt x="1585496" y="86699"/>
                </a:lnTo>
                <a:lnTo>
                  <a:pt x="1585496" y="433499"/>
                </a:lnTo>
                <a:lnTo>
                  <a:pt x="1578682" y="467243"/>
                </a:lnTo>
                <a:lnTo>
                  <a:pt x="1560099" y="494802"/>
                </a:lnTo>
                <a:lnTo>
                  <a:pt x="1532541" y="513384"/>
                </a:lnTo>
                <a:lnTo>
                  <a:pt x="1498796" y="52019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48618" y="4049653"/>
            <a:ext cx="1188085" cy="341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0005" marR="5080" indent="-27940" algn="r">
              <a:lnSpc>
                <a:spcPts val="819"/>
              </a:lnSpc>
              <a:spcBef>
                <a:spcPts val="140"/>
              </a:spcBef>
            </a:pPr>
            <a:r>
              <a:rPr sz="700" spc="20" dirty="0">
                <a:latin typeface="Century Gothic"/>
                <a:cs typeface="Century Gothic"/>
              </a:rPr>
              <a:t>Perform</a:t>
            </a:r>
            <a:r>
              <a:rPr sz="700" spc="150" dirty="0">
                <a:latin typeface="Century Gothic"/>
                <a:cs typeface="Century Gothic"/>
              </a:rPr>
              <a:t> </a:t>
            </a:r>
            <a:r>
              <a:rPr sz="700" spc="10" dirty="0">
                <a:latin typeface="Century Gothic"/>
                <a:cs typeface="Century Gothic"/>
              </a:rPr>
              <a:t>hyper-</a:t>
            </a:r>
            <a:r>
              <a:rPr sz="700" spc="-10" dirty="0">
                <a:latin typeface="Century Gothic"/>
                <a:cs typeface="Century Gothic"/>
              </a:rPr>
              <a:t>parameter</a:t>
            </a:r>
            <a:r>
              <a:rPr sz="700" spc="20" dirty="0">
                <a:latin typeface="Century Gothic"/>
                <a:cs typeface="Century Gothic"/>
              </a:rPr>
              <a:t> tuning on</a:t>
            </a:r>
            <a:r>
              <a:rPr sz="700" spc="25" dirty="0">
                <a:latin typeface="Century Gothic"/>
                <a:cs typeface="Century Gothic"/>
              </a:rPr>
              <a:t> </a:t>
            </a:r>
            <a:r>
              <a:rPr sz="700" spc="20" dirty="0">
                <a:latin typeface="Century Gothic"/>
                <a:cs typeface="Century Gothic"/>
              </a:rPr>
              <a:t>your model</a:t>
            </a:r>
            <a:r>
              <a:rPr sz="700" spc="25" dirty="0">
                <a:latin typeface="Century Gothic"/>
                <a:cs typeface="Century Gothic"/>
              </a:rPr>
              <a:t> </a:t>
            </a:r>
            <a:r>
              <a:rPr sz="700" spc="-50" dirty="0">
                <a:latin typeface="Century Gothic"/>
                <a:cs typeface="Century Gothic"/>
              </a:rPr>
              <a:t>-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enhance</a:t>
            </a:r>
            <a:r>
              <a:rPr sz="700" spc="-10" dirty="0">
                <a:latin typeface="Century Gothic"/>
                <a:cs typeface="Century Gothic"/>
              </a:rPr>
              <a:t> </a:t>
            </a:r>
            <a:r>
              <a:rPr sz="700" spc="55" dirty="0">
                <a:latin typeface="Century Gothic"/>
                <a:cs typeface="Century Gothic"/>
              </a:rPr>
              <a:t>its</a:t>
            </a:r>
            <a:r>
              <a:rPr sz="700" spc="-5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performance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1273" y="2458507"/>
            <a:ext cx="1585595" cy="520700"/>
          </a:xfrm>
          <a:custGeom>
            <a:avLst/>
            <a:gdLst/>
            <a:ahLst/>
            <a:cxnLst/>
            <a:rect l="l" t="t" r="r" b="b"/>
            <a:pathLst>
              <a:path w="1585595" h="520700">
                <a:moveTo>
                  <a:pt x="1498794" y="520211"/>
                </a:moveTo>
                <a:lnTo>
                  <a:pt x="86702" y="520211"/>
                </a:lnTo>
                <a:lnTo>
                  <a:pt x="52953" y="513396"/>
                </a:lnTo>
                <a:lnTo>
                  <a:pt x="25394" y="494811"/>
                </a:lnTo>
                <a:lnTo>
                  <a:pt x="6813" y="467245"/>
                </a:lnTo>
                <a:lnTo>
                  <a:pt x="0" y="433486"/>
                </a:lnTo>
                <a:lnTo>
                  <a:pt x="0" y="86712"/>
                </a:lnTo>
                <a:lnTo>
                  <a:pt x="6813" y="52957"/>
                </a:lnTo>
                <a:lnTo>
                  <a:pt x="25394" y="25395"/>
                </a:lnTo>
                <a:lnTo>
                  <a:pt x="52953" y="6813"/>
                </a:lnTo>
                <a:lnTo>
                  <a:pt x="86702" y="0"/>
                </a:lnTo>
                <a:lnTo>
                  <a:pt x="1498794" y="0"/>
                </a:lnTo>
                <a:lnTo>
                  <a:pt x="1546896" y="14567"/>
                </a:lnTo>
                <a:lnTo>
                  <a:pt x="1578896" y="53528"/>
                </a:lnTo>
                <a:lnTo>
                  <a:pt x="1585496" y="86712"/>
                </a:lnTo>
                <a:lnTo>
                  <a:pt x="1585496" y="433486"/>
                </a:lnTo>
                <a:lnTo>
                  <a:pt x="1578683" y="467245"/>
                </a:lnTo>
                <a:lnTo>
                  <a:pt x="1560102" y="494811"/>
                </a:lnTo>
                <a:lnTo>
                  <a:pt x="1532543" y="513396"/>
                </a:lnTo>
                <a:lnTo>
                  <a:pt x="1498794" y="520211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58266" y="2545192"/>
            <a:ext cx="1205230" cy="341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40"/>
              </a:spcBef>
            </a:pPr>
            <a:r>
              <a:rPr sz="700" dirty="0">
                <a:latin typeface="Century Gothic"/>
                <a:cs typeface="Century Gothic"/>
              </a:rPr>
              <a:t>Expose</a:t>
            </a:r>
            <a:r>
              <a:rPr sz="700" spc="8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your</a:t>
            </a:r>
            <a:r>
              <a:rPr sz="700" spc="8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model</a:t>
            </a:r>
            <a:r>
              <a:rPr sz="700" spc="8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as</a:t>
            </a:r>
            <a:r>
              <a:rPr sz="700" spc="85" dirty="0">
                <a:latin typeface="Century Gothic"/>
                <a:cs typeface="Century Gothic"/>
              </a:rPr>
              <a:t> </a:t>
            </a:r>
            <a:r>
              <a:rPr sz="700" spc="-25" dirty="0">
                <a:latin typeface="Century Gothic"/>
                <a:cs typeface="Century Gothic"/>
              </a:rPr>
              <a:t>an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endpoint</a:t>
            </a:r>
            <a:r>
              <a:rPr sz="700" spc="6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-</a:t>
            </a:r>
            <a:r>
              <a:rPr sz="700" spc="7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which</a:t>
            </a:r>
            <a:r>
              <a:rPr sz="700" spc="70" dirty="0">
                <a:latin typeface="Century Gothic"/>
                <a:cs typeface="Century Gothic"/>
              </a:rPr>
              <a:t> </a:t>
            </a:r>
            <a:r>
              <a:rPr sz="700" spc="-20" dirty="0">
                <a:latin typeface="Century Gothic"/>
                <a:cs typeface="Century Gothic"/>
              </a:rPr>
              <a:t>can</a:t>
            </a:r>
            <a:r>
              <a:rPr sz="700" spc="70" dirty="0">
                <a:latin typeface="Century Gothic"/>
                <a:cs typeface="Century Gothic"/>
              </a:rPr>
              <a:t> </a:t>
            </a:r>
            <a:r>
              <a:rPr sz="700" spc="-25" dirty="0">
                <a:latin typeface="Century Gothic"/>
                <a:cs typeface="Century Gothic"/>
              </a:rPr>
              <a:t>be</a:t>
            </a:r>
            <a:r>
              <a:rPr sz="700" spc="50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used</a:t>
            </a:r>
            <a:r>
              <a:rPr sz="700" spc="55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by</a:t>
            </a:r>
            <a:r>
              <a:rPr sz="700" spc="60" dirty="0">
                <a:latin typeface="Century Gothic"/>
                <a:cs typeface="Century Gothic"/>
              </a:rPr>
              <a:t> </a:t>
            </a:r>
            <a:r>
              <a:rPr sz="700" dirty="0">
                <a:latin typeface="Century Gothic"/>
                <a:cs typeface="Century Gothic"/>
              </a:rPr>
              <a:t>your</a:t>
            </a:r>
            <a:r>
              <a:rPr sz="700" spc="60" dirty="0">
                <a:latin typeface="Century Gothic"/>
                <a:cs typeface="Century Gothic"/>
              </a:rPr>
              <a:t> </a:t>
            </a:r>
            <a:r>
              <a:rPr sz="700" spc="-10" dirty="0">
                <a:latin typeface="Century Gothic"/>
                <a:cs typeface="Century Gothic"/>
              </a:rPr>
              <a:t>stakeholders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62863" y="2216818"/>
            <a:ext cx="1020444" cy="1003935"/>
          </a:xfrm>
          <a:custGeom>
            <a:avLst/>
            <a:gdLst/>
            <a:ahLst/>
            <a:cxnLst/>
            <a:rect l="l" t="t" r="r" b="b"/>
            <a:pathLst>
              <a:path w="1020445" h="1003935">
                <a:moveTo>
                  <a:pt x="509998" y="1003500"/>
                </a:moveTo>
                <a:lnTo>
                  <a:pt x="460885" y="1001203"/>
                </a:lnTo>
                <a:lnTo>
                  <a:pt x="413091" y="994452"/>
                </a:lnTo>
                <a:lnTo>
                  <a:pt x="366832" y="983458"/>
                </a:lnTo>
                <a:lnTo>
                  <a:pt x="322320" y="968431"/>
                </a:lnTo>
                <a:lnTo>
                  <a:pt x="279770" y="949581"/>
                </a:lnTo>
                <a:lnTo>
                  <a:pt x="239396" y="927119"/>
                </a:lnTo>
                <a:lnTo>
                  <a:pt x="201411" y="901254"/>
                </a:lnTo>
                <a:lnTo>
                  <a:pt x="166029" y="872197"/>
                </a:lnTo>
                <a:lnTo>
                  <a:pt x="133463" y="840159"/>
                </a:lnTo>
                <a:lnTo>
                  <a:pt x="103929" y="805350"/>
                </a:lnTo>
                <a:lnTo>
                  <a:pt x="77638" y="767979"/>
                </a:lnTo>
                <a:lnTo>
                  <a:pt x="54806" y="728258"/>
                </a:lnTo>
                <a:lnTo>
                  <a:pt x="35646" y="686396"/>
                </a:lnTo>
                <a:lnTo>
                  <a:pt x="20371" y="642604"/>
                </a:lnTo>
                <a:lnTo>
                  <a:pt x="9196" y="597093"/>
                </a:lnTo>
                <a:lnTo>
                  <a:pt x="2334" y="550071"/>
                </a:lnTo>
                <a:lnTo>
                  <a:pt x="0" y="501751"/>
                </a:lnTo>
                <a:lnTo>
                  <a:pt x="2334" y="453429"/>
                </a:lnTo>
                <a:lnTo>
                  <a:pt x="9196" y="406407"/>
                </a:lnTo>
                <a:lnTo>
                  <a:pt x="20371" y="360894"/>
                </a:lnTo>
                <a:lnTo>
                  <a:pt x="35646" y="317102"/>
                </a:lnTo>
                <a:lnTo>
                  <a:pt x="54806" y="275239"/>
                </a:lnTo>
                <a:lnTo>
                  <a:pt x="77638" y="235518"/>
                </a:lnTo>
                <a:lnTo>
                  <a:pt x="103929" y="198147"/>
                </a:lnTo>
                <a:lnTo>
                  <a:pt x="133463" y="163338"/>
                </a:lnTo>
                <a:lnTo>
                  <a:pt x="166029" y="131300"/>
                </a:lnTo>
                <a:lnTo>
                  <a:pt x="201411" y="102243"/>
                </a:lnTo>
                <a:lnTo>
                  <a:pt x="239396" y="76379"/>
                </a:lnTo>
                <a:lnTo>
                  <a:pt x="279770" y="53917"/>
                </a:lnTo>
                <a:lnTo>
                  <a:pt x="322320" y="35067"/>
                </a:lnTo>
                <a:lnTo>
                  <a:pt x="366832" y="20041"/>
                </a:lnTo>
                <a:lnTo>
                  <a:pt x="413091" y="9047"/>
                </a:lnTo>
                <a:lnTo>
                  <a:pt x="460885" y="2296"/>
                </a:lnTo>
                <a:lnTo>
                  <a:pt x="509998" y="0"/>
                </a:lnTo>
                <a:lnTo>
                  <a:pt x="560411" y="2455"/>
                </a:lnTo>
                <a:lnTo>
                  <a:pt x="609968" y="9730"/>
                </a:lnTo>
                <a:lnTo>
                  <a:pt x="658336" y="21688"/>
                </a:lnTo>
                <a:lnTo>
                  <a:pt x="705179" y="38193"/>
                </a:lnTo>
                <a:lnTo>
                  <a:pt x="750165" y="59109"/>
                </a:lnTo>
                <a:lnTo>
                  <a:pt x="792957" y="84299"/>
                </a:lnTo>
                <a:lnTo>
                  <a:pt x="833221" y="113628"/>
                </a:lnTo>
                <a:lnTo>
                  <a:pt x="870623" y="146959"/>
                </a:lnTo>
                <a:lnTo>
                  <a:pt x="904503" y="183762"/>
                </a:lnTo>
                <a:lnTo>
                  <a:pt x="934315" y="223379"/>
                </a:lnTo>
                <a:lnTo>
                  <a:pt x="959919" y="265481"/>
                </a:lnTo>
                <a:lnTo>
                  <a:pt x="981179" y="309739"/>
                </a:lnTo>
                <a:lnTo>
                  <a:pt x="997955" y="355823"/>
                </a:lnTo>
                <a:lnTo>
                  <a:pt x="1010108" y="403406"/>
                </a:lnTo>
                <a:lnTo>
                  <a:pt x="1017502" y="452158"/>
                </a:lnTo>
                <a:lnTo>
                  <a:pt x="1019997" y="501751"/>
                </a:lnTo>
                <a:lnTo>
                  <a:pt x="1017663" y="550071"/>
                </a:lnTo>
                <a:lnTo>
                  <a:pt x="1010802" y="597093"/>
                </a:lnTo>
                <a:lnTo>
                  <a:pt x="999628" y="642604"/>
                </a:lnTo>
                <a:lnTo>
                  <a:pt x="984354" y="686396"/>
                </a:lnTo>
                <a:lnTo>
                  <a:pt x="965196" y="728258"/>
                </a:lnTo>
                <a:lnTo>
                  <a:pt x="942365" y="767979"/>
                </a:lnTo>
                <a:lnTo>
                  <a:pt x="916076" y="805350"/>
                </a:lnTo>
                <a:lnTo>
                  <a:pt x="886542" y="840159"/>
                </a:lnTo>
                <a:lnTo>
                  <a:pt x="853978" y="872197"/>
                </a:lnTo>
                <a:lnTo>
                  <a:pt x="818597" y="901254"/>
                </a:lnTo>
                <a:lnTo>
                  <a:pt x="780612" y="927119"/>
                </a:lnTo>
                <a:lnTo>
                  <a:pt x="740238" y="949581"/>
                </a:lnTo>
                <a:lnTo>
                  <a:pt x="697687" y="968431"/>
                </a:lnTo>
                <a:lnTo>
                  <a:pt x="653174" y="983458"/>
                </a:lnTo>
                <a:lnTo>
                  <a:pt x="606913" y="994452"/>
                </a:lnTo>
                <a:lnTo>
                  <a:pt x="559116" y="1001203"/>
                </a:lnTo>
                <a:lnTo>
                  <a:pt x="509998" y="100350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14612" y="2634619"/>
            <a:ext cx="316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5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07040" y="3699017"/>
            <a:ext cx="1020444" cy="1003935"/>
          </a:xfrm>
          <a:custGeom>
            <a:avLst/>
            <a:gdLst/>
            <a:ahLst/>
            <a:cxnLst/>
            <a:rect l="l" t="t" r="r" b="b"/>
            <a:pathLst>
              <a:path w="1020445" h="1003935">
                <a:moveTo>
                  <a:pt x="509998" y="1003498"/>
                </a:moveTo>
                <a:lnTo>
                  <a:pt x="460881" y="1001201"/>
                </a:lnTo>
                <a:lnTo>
                  <a:pt x="413084" y="994450"/>
                </a:lnTo>
                <a:lnTo>
                  <a:pt x="366823" y="983456"/>
                </a:lnTo>
                <a:lnTo>
                  <a:pt x="322310" y="968429"/>
                </a:lnTo>
                <a:lnTo>
                  <a:pt x="279759" y="949579"/>
                </a:lnTo>
                <a:lnTo>
                  <a:pt x="239385" y="927116"/>
                </a:lnTo>
                <a:lnTo>
                  <a:pt x="201400" y="901251"/>
                </a:lnTo>
                <a:lnTo>
                  <a:pt x="166019" y="872195"/>
                </a:lnTo>
                <a:lnTo>
                  <a:pt x="133454" y="840157"/>
                </a:lnTo>
                <a:lnTo>
                  <a:pt x="103921" y="805347"/>
                </a:lnTo>
                <a:lnTo>
                  <a:pt x="77632" y="767977"/>
                </a:lnTo>
                <a:lnTo>
                  <a:pt x="54801" y="728255"/>
                </a:lnTo>
                <a:lnTo>
                  <a:pt x="35643" y="686394"/>
                </a:lnTo>
                <a:lnTo>
                  <a:pt x="20369" y="642602"/>
                </a:lnTo>
                <a:lnTo>
                  <a:pt x="9195" y="597090"/>
                </a:lnTo>
                <a:lnTo>
                  <a:pt x="2334" y="550069"/>
                </a:lnTo>
                <a:lnTo>
                  <a:pt x="0" y="501749"/>
                </a:lnTo>
                <a:lnTo>
                  <a:pt x="2334" y="453428"/>
                </a:lnTo>
                <a:lnTo>
                  <a:pt x="9195" y="406407"/>
                </a:lnTo>
                <a:lnTo>
                  <a:pt x="20369" y="360895"/>
                </a:lnTo>
                <a:lnTo>
                  <a:pt x="35643" y="317103"/>
                </a:lnTo>
                <a:lnTo>
                  <a:pt x="54801" y="275242"/>
                </a:lnTo>
                <a:lnTo>
                  <a:pt x="77632" y="235520"/>
                </a:lnTo>
                <a:lnTo>
                  <a:pt x="103921" y="198150"/>
                </a:lnTo>
                <a:lnTo>
                  <a:pt x="133454" y="163340"/>
                </a:lnTo>
                <a:lnTo>
                  <a:pt x="166019" y="131302"/>
                </a:lnTo>
                <a:lnTo>
                  <a:pt x="201400" y="102246"/>
                </a:lnTo>
                <a:lnTo>
                  <a:pt x="239385" y="76381"/>
                </a:lnTo>
                <a:lnTo>
                  <a:pt x="279759" y="53918"/>
                </a:lnTo>
                <a:lnTo>
                  <a:pt x="322310" y="35068"/>
                </a:lnTo>
                <a:lnTo>
                  <a:pt x="366823" y="20041"/>
                </a:lnTo>
                <a:lnTo>
                  <a:pt x="413084" y="9047"/>
                </a:lnTo>
                <a:lnTo>
                  <a:pt x="460881" y="2296"/>
                </a:lnTo>
                <a:lnTo>
                  <a:pt x="509998" y="0"/>
                </a:lnTo>
                <a:lnTo>
                  <a:pt x="560402" y="2455"/>
                </a:lnTo>
                <a:lnTo>
                  <a:pt x="609954" y="9731"/>
                </a:lnTo>
                <a:lnTo>
                  <a:pt x="658318" y="21690"/>
                </a:lnTo>
                <a:lnTo>
                  <a:pt x="705161" y="38196"/>
                </a:lnTo>
                <a:lnTo>
                  <a:pt x="750147" y="59112"/>
                </a:lnTo>
                <a:lnTo>
                  <a:pt x="792942" y="84301"/>
                </a:lnTo>
                <a:lnTo>
                  <a:pt x="833213" y="113625"/>
                </a:lnTo>
                <a:lnTo>
                  <a:pt x="870623" y="146949"/>
                </a:lnTo>
                <a:lnTo>
                  <a:pt x="904503" y="183753"/>
                </a:lnTo>
                <a:lnTo>
                  <a:pt x="934315" y="223371"/>
                </a:lnTo>
                <a:lnTo>
                  <a:pt x="959919" y="265474"/>
                </a:lnTo>
                <a:lnTo>
                  <a:pt x="981179" y="309733"/>
                </a:lnTo>
                <a:lnTo>
                  <a:pt x="997955" y="355819"/>
                </a:lnTo>
                <a:lnTo>
                  <a:pt x="1010108" y="403403"/>
                </a:lnTo>
                <a:lnTo>
                  <a:pt x="1017502" y="452156"/>
                </a:lnTo>
                <a:lnTo>
                  <a:pt x="1019997" y="501749"/>
                </a:lnTo>
                <a:lnTo>
                  <a:pt x="1017663" y="550069"/>
                </a:lnTo>
                <a:lnTo>
                  <a:pt x="1010802" y="597090"/>
                </a:lnTo>
                <a:lnTo>
                  <a:pt x="999628" y="642602"/>
                </a:lnTo>
                <a:lnTo>
                  <a:pt x="984354" y="686394"/>
                </a:lnTo>
                <a:lnTo>
                  <a:pt x="965196" y="728255"/>
                </a:lnTo>
                <a:lnTo>
                  <a:pt x="942365" y="767977"/>
                </a:lnTo>
                <a:lnTo>
                  <a:pt x="916076" y="805347"/>
                </a:lnTo>
                <a:lnTo>
                  <a:pt x="886542" y="840157"/>
                </a:lnTo>
                <a:lnTo>
                  <a:pt x="853978" y="872195"/>
                </a:lnTo>
                <a:lnTo>
                  <a:pt x="818597" y="901251"/>
                </a:lnTo>
                <a:lnTo>
                  <a:pt x="780612" y="927116"/>
                </a:lnTo>
                <a:lnTo>
                  <a:pt x="740238" y="949579"/>
                </a:lnTo>
                <a:lnTo>
                  <a:pt x="697687" y="968429"/>
                </a:lnTo>
                <a:lnTo>
                  <a:pt x="653174" y="983456"/>
                </a:lnTo>
                <a:lnTo>
                  <a:pt x="606913" y="994450"/>
                </a:lnTo>
                <a:lnTo>
                  <a:pt x="559116" y="1001201"/>
                </a:lnTo>
                <a:lnTo>
                  <a:pt x="509998" y="1003498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57005" y="4116821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85" dirty="0">
                <a:solidFill>
                  <a:srgbClr val="FFFFFF"/>
                </a:solidFill>
                <a:latin typeface="Calibri"/>
                <a:cs typeface="Calibri"/>
              </a:rPr>
              <a:t>Tune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21469" y="3699017"/>
            <a:ext cx="1066165" cy="1048385"/>
          </a:xfrm>
          <a:custGeom>
            <a:avLst/>
            <a:gdLst/>
            <a:ahLst/>
            <a:cxnLst/>
            <a:rect l="l" t="t" r="r" b="b"/>
            <a:pathLst>
              <a:path w="1066164" h="1048385">
                <a:moveTo>
                  <a:pt x="532823" y="1047897"/>
                </a:moveTo>
                <a:lnTo>
                  <a:pt x="484325" y="1045756"/>
                </a:lnTo>
                <a:lnTo>
                  <a:pt x="437047" y="1039456"/>
                </a:lnTo>
                <a:lnTo>
                  <a:pt x="391176" y="1029182"/>
                </a:lnTo>
                <a:lnTo>
                  <a:pt x="346902" y="1015118"/>
                </a:lnTo>
                <a:lnTo>
                  <a:pt x="304413" y="997451"/>
                </a:lnTo>
                <a:lnTo>
                  <a:pt x="263895" y="976364"/>
                </a:lnTo>
                <a:lnTo>
                  <a:pt x="225538" y="952043"/>
                </a:lnTo>
                <a:lnTo>
                  <a:pt x="189530" y="924673"/>
                </a:lnTo>
                <a:lnTo>
                  <a:pt x="156059" y="894438"/>
                </a:lnTo>
                <a:lnTo>
                  <a:pt x="125312" y="861524"/>
                </a:lnTo>
                <a:lnTo>
                  <a:pt x="97478" y="826116"/>
                </a:lnTo>
                <a:lnTo>
                  <a:pt x="72745" y="788398"/>
                </a:lnTo>
                <a:lnTo>
                  <a:pt x="51301" y="748555"/>
                </a:lnTo>
                <a:lnTo>
                  <a:pt x="33334" y="706773"/>
                </a:lnTo>
                <a:lnTo>
                  <a:pt x="19032" y="663237"/>
                </a:lnTo>
                <a:lnTo>
                  <a:pt x="8584" y="618130"/>
                </a:lnTo>
                <a:lnTo>
                  <a:pt x="2177" y="571639"/>
                </a:lnTo>
                <a:lnTo>
                  <a:pt x="0" y="523948"/>
                </a:lnTo>
                <a:lnTo>
                  <a:pt x="2177" y="476258"/>
                </a:lnTo>
                <a:lnTo>
                  <a:pt x="8584" y="429767"/>
                </a:lnTo>
                <a:lnTo>
                  <a:pt x="19032" y="384660"/>
                </a:lnTo>
                <a:lnTo>
                  <a:pt x="33334" y="341124"/>
                </a:lnTo>
                <a:lnTo>
                  <a:pt x="51301" y="299341"/>
                </a:lnTo>
                <a:lnTo>
                  <a:pt x="72745" y="259499"/>
                </a:lnTo>
                <a:lnTo>
                  <a:pt x="97478" y="221781"/>
                </a:lnTo>
                <a:lnTo>
                  <a:pt x="125312" y="186373"/>
                </a:lnTo>
                <a:lnTo>
                  <a:pt x="156069" y="153449"/>
                </a:lnTo>
                <a:lnTo>
                  <a:pt x="189530" y="123224"/>
                </a:lnTo>
                <a:lnTo>
                  <a:pt x="225538" y="95854"/>
                </a:lnTo>
                <a:lnTo>
                  <a:pt x="263895" y="71533"/>
                </a:lnTo>
                <a:lnTo>
                  <a:pt x="304413" y="50446"/>
                </a:lnTo>
                <a:lnTo>
                  <a:pt x="346902" y="32778"/>
                </a:lnTo>
                <a:lnTo>
                  <a:pt x="391176" y="18715"/>
                </a:lnTo>
                <a:lnTo>
                  <a:pt x="437047" y="8441"/>
                </a:lnTo>
                <a:lnTo>
                  <a:pt x="484325" y="2141"/>
                </a:lnTo>
                <a:lnTo>
                  <a:pt x="532823" y="0"/>
                </a:lnTo>
                <a:lnTo>
                  <a:pt x="585482" y="2563"/>
                </a:lnTo>
                <a:lnTo>
                  <a:pt x="637249" y="10160"/>
                </a:lnTo>
                <a:lnTo>
                  <a:pt x="687775" y="22646"/>
                </a:lnTo>
                <a:lnTo>
                  <a:pt x="736711" y="39881"/>
                </a:lnTo>
                <a:lnTo>
                  <a:pt x="783705" y="61721"/>
                </a:lnTo>
                <a:lnTo>
                  <a:pt x="828410" y="88024"/>
                </a:lnTo>
                <a:lnTo>
                  <a:pt x="870474" y="118647"/>
                </a:lnTo>
                <a:lnTo>
                  <a:pt x="909548" y="153449"/>
                </a:lnTo>
                <a:lnTo>
                  <a:pt x="944943" y="191885"/>
                </a:lnTo>
                <a:lnTo>
                  <a:pt x="976090" y="233256"/>
                </a:lnTo>
                <a:lnTo>
                  <a:pt x="1002843" y="277221"/>
                </a:lnTo>
                <a:lnTo>
                  <a:pt x="1025057" y="323436"/>
                </a:lnTo>
                <a:lnTo>
                  <a:pt x="1042587" y="371560"/>
                </a:lnTo>
                <a:lnTo>
                  <a:pt x="1055288" y="421248"/>
                </a:lnTo>
                <a:lnTo>
                  <a:pt x="1063015" y="472158"/>
                </a:lnTo>
                <a:lnTo>
                  <a:pt x="1065622" y="523948"/>
                </a:lnTo>
                <a:lnTo>
                  <a:pt x="1063445" y="571639"/>
                </a:lnTo>
                <a:lnTo>
                  <a:pt x="1057038" y="618130"/>
                </a:lnTo>
                <a:lnTo>
                  <a:pt x="1046590" y="663237"/>
                </a:lnTo>
                <a:lnTo>
                  <a:pt x="1032288" y="706773"/>
                </a:lnTo>
                <a:lnTo>
                  <a:pt x="1014322" y="748555"/>
                </a:lnTo>
                <a:lnTo>
                  <a:pt x="992878" y="788398"/>
                </a:lnTo>
                <a:lnTo>
                  <a:pt x="968146" y="826116"/>
                </a:lnTo>
                <a:lnTo>
                  <a:pt x="940312" y="861524"/>
                </a:lnTo>
                <a:lnTo>
                  <a:pt x="909566" y="894438"/>
                </a:lnTo>
                <a:lnTo>
                  <a:pt x="876096" y="924673"/>
                </a:lnTo>
                <a:lnTo>
                  <a:pt x="840089" y="952043"/>
                </a:lnTo>
                <a:lnTo>
                  <a:pt x="801734" y="976364"/>
                </a:lnTo>
                <a:lnTo>
                  <a:pt x="761219" y="997451"/>
                </a:lnTo>
                <a:lnTo>
                  <a:pt x="718731" y="1015118"/>
                </a:lnTo>
                <a:lnTo>
                  <a:pt x="674460" y="1029182"/>
                </a:lnTo>
                <a:lnTo>
                  <a:pt x="628593" y="1039456"/>
                </a:lnTo>
                <a:lnTo>
                  <a:pt x="581318" y="1045756"/>
                </a:lnTo>
                <a:lnTo>
                  <a:pt x="532823" y="1047897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88403" y="4139014"/>
            <a:ext cx="532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5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27315" y="734623"/>
            <a:ext cx="1020444" cy="1003935"/>
          </a:xfrm>
          <a:custGeom>
            <a:avLst/>
            <a:gdLst/>
            <a:ahLst/>
            <a:cxnLst/>
            <a:rect l="l" t="t" r="r" b="b"/>
            <a:pathLst>
              <a:path w="1020445" h="1003935">
                <a:moveTo>
                  <a:pt x="509998" y="1003498"/>
                </a:moveTo>
                <a:lnTo>
                  <a:pt x="460881" y="1001201"/>
                </a:lnTo>
                <a:lnTo>
                  <a:pt x="413084" y="994450"/>
                </a:lnTo>
                <a:lnTo>
                  <a:pt x="366823" y="983457"/>
                </a:lnTo>
                <a:lnTo>
                  <a:pt x="322310" y="968430"/>
                </a:lnTo>
                <a:lnTo>
                  <a:pt x="279759" y="949581"/>
                </a:lnTo>
                <a:lnTo>
                  <a:pt x="239385" y="927119"/>
                </a:lnTo>
                <a:lnTo>
                  <a:pt x="201400" y="901254"/>
                </a:lnTo>
                <a:lnTo>
                  <a:pt x="166019" y="872198"/>
                </a:lnTo>
                <a:lnTo>
                  <a:pt x="133454" y="840161"/>
                </a:lnTo>
                <a:lnTo>
                  <a:pt x="103921" y="805351"/>
                </a:lnTo>
                <a:lnTo>
                  <a:pt x="77632" y="767981"/>
                </a:lnTo>
                <a:lnTo>
                  <a:pt x="54801" y="728260"/>
                </a:lnTo>
                <a:lnTo>
                  <a:pt x="35643" y="686398"/>
                </a:lnTo>
                <a:lnTo>
                  <a:pt x="20369" y="642605"/>
                </a:lnTo>
                <a:lnTo>
                  <a:pt x="9195" y="597093"/>
                </a:lnTo>
                <a:lnTo>
                  <a:pt x="2334" y="550070"/>
                </a:lnTo>
                <a:lnTo>
                  <a:pt x="0" y="501749"/>
                </a:lnTo>
                <a:lnTo>
                  <a:pt x="2334" y="453427"/>
                </a:lnTo>
                <a:lnTo>
                  <a:pt x="9195" y="406404"/>
                </a:lnTo>
                <a:lnTo>
                  <a:pt x="20369" y="360892"/>
                </a:lnTo>
                <a:lnTo>
                  <a:pt x="35643" y="317099"/>
                </a:lnTo>
                <a:lnTo>
                  <a:pt x="54801" y="275237"/>
                </a:lnTo>
                <a:lnTo>
                  <a:pt x="77632" y="235516"/>
                </a:lnTo>
                <a:lnTo>
                  <a:pt x="103921" y="198146"/>
                </a:lnTo>
                <a:lnTo>
                  <a:pt x="133454" y="163336"/>
                </a:lnTo>
                <a:lnTo>
                  <a:pt x="166019" y="131299"/>
                </a:lnTo>
                <a:lnTo>
                  <a:pt x="201400" y="102243"/>
                </a:lnTo>
                <a:lnTo>
                  <a:pt x="239385" y="76378"/>
                </a:lnTo>
                <a:lnTo>
                  <a:pt x="279759" y="53917"/>
                </a:lnTo>
                <a:lnTo>
                  <a:pt x="322310" y="35067"/>
                </a:lnTo>
                <a:lnTo>
                  <a:pt x="366823" y="20040"/>
                </a:lnTo>
                <a:lnTo>
                  <a:pt x="413084" y="9047"/>
                </a:lnTo>
                <a:lnTo>
                  <a:pt x="460881" y="2296"/>
                </a:lnTo>
                <a:lnTo>
                  <a:pt x="509998" y="0"/>
                </a:lnTo>
                <a:lnTo>
                  <a:pt x="560402" y="2455"/>
                </a:lnTo>
                <a:lnTo>
                  <a:pt x="609954" y="9730"/>
                </a:lnTo>
                <a:lnTo>
                  <a:pt x="658318" y="21688"/>
                </a:lnTo>
                <a:lnTo>
                  <a:pt x="705161" y="38193"/>
                </a:lnTo>
                <a:lnTo>
                  <a:pt x="750147" y="59109"/>
                </a:lnTo>
                <a:lnTo>
                  <a:pt x="792942" y="84299"/>
                </a:lnTo>
                <a:lnTo>
                  <a:pt x="833213" y="113628"/>
                </a:lnTo>
                <a:lnTo>
                  <a:pt x="870623" y="146959"/>
                </a:lnTo>
                <a:lnTo>
                  <a:pt x="904503" y="183762"/>
                </a:lnTo>
                <a:lnTo>
                  <a:pt x="934315" y="223378"/>
                </a:lnTo>
                <a:lnTo>
                  <a:pt x="959919" y="265480"/>
                </a:lnTo>
                <a:lnTo>
                  <a:pt x="981179" y="309737"/>
                </a:lnTo>
                <a:lnTo>
                  <a:pt x="997955" y="355822"/>
                </a:lnTo>
                <a:lnTo>
                  <a:pt x="1010108" y="403405"/>
                </a:lnTo>
                <a:lnTo>
                  <a:pt x="1017502" y="452157"/>
                </a:lnTo>
                <a:lnTo>
                  <a:pt x="1019997" y="501749"/>
                </a:lnTo>
                <a:lnTo>
                  <a:pt x="1017663" y="550070"/>
                </a:lnTo>
                <a:lnTo>
                  <a:pt x="1010801" y="597093"/>
                </a:lnTo>
                <a:lnTo>
                  <a:pt x="999626" y="642605"/>
                </a:lnTo>
                <a:lnTo>
                  <a:pt x="984351" y="686398"/>
                </a:lnTo>
                <a:lnTo>
                  <a:pt x="965191" y="728260"/>
                </a:lnTo>
                <a:lnTo>
                  <a:pt x="942359" y="767981"/>
                </a:lnTo>
                <a:lnTo>
                  <a:pt x="916068" y="805351"/>
                </a:lnTo>
                <a:lnTo>
                  <a:pt x="886534" y="840161"/>
                </a:lnTo>
                <a:lnTo>
                  <a:pt x="853968" y="872198"/>
                </a:lnTo>
                <a:lnTo>
                  <a:pt x="818586" y="901254"/>
                </a:lnTo>
                <a:lnTo>
                  <a:pt x="780601" y="927119"/>
                </a:lnTo>
                <a:lnTo>
                  <a:pt x="740227" y="949581"/>
                </a:lnTo>
                <a:lnTo>
                  <a:pt x="697677" y="968430"/>
                </a:lnTo>
                <a:lnTo>
                  <a:pt x="653165" y="983457"/>
                </a:lnTo>
                <a:lnTo>
                  <a:pt x="606906" y="994450"/>
                </a:lnTo>
                <a:lnTo>
                  <a:pt x="559112" y="1001201"/>
                </a:lnTo>
                <a:lnTo>
                  <a:pt x="509998" y="1003498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96525" y="1152425"/>
            <a:ext cx="481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9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22169" y="734623"/>
            <a:ext cx="1020444" cy="1003935"/>
          </a:xfrm>
          <a:custGeom>
            <a:avLst/>
            <a:gdLst/>
            <a:ahLst/>
            <a:cxnLst/>
            <a:rect l="l" t="t" r="r" b="b"/>
            <a:pathLst>
              <a:path w="1020445" h="1003935">
                <a:moveTo>
                  <a:pt x="509998" y="1003498"/>
                </a:moveTo>
                <a:lnTo>
                  <a:pt x="460885" y="1001201"/>
                </a:lnTo>
                <a:lnTo>
                  <a:pt x="413091" y="994450"/>
                </a:lnTo>
                <a:lnTo>
                  <a:pt x="366832" y="983457"/>
                </a:lnTo>
                <a:lnTo>
                  <a:pt x="322320" y="968430"/>
                </a:lnTo>
                <a:lnTo>
                  <a:pt x="279770" y="949581"/>
                </a:lnTo>
                <a:lnTo>
                  <a:pt x="239396" y="927119"/>
                </a:lnTo>
                <a:lnTo>
                  <a:pt x="201411" y="901254"/>
                </a:lnTo>
                <a:lnTo>
                  <a:pt x="166029" y="872198"/>
                </a:lnTo>
                <a:lnTo>
                  <a:pt x="133463" y="840161"/>
                </a:lnTo>
                <a:lnTo>
                  <a:pt x="103929" y="805351"/>
                </a:lnTo>
                <a:lnTo>
                  <a:pt x="77638" y="767981"/>
                </a:lnTo>
                <a:lnTo>
                  <a:pt x="54806" y="728260"/>
                </a:lnTo>
                <a:lnTo>
                  <a:pt x="35646" y="686398"/>
                </a:lnTo>
                <a:lnTo>
                  <a:pt x="20371" y="642605"/>
                </a:lnTo>
                <a:lnTo>
                  <a:pt x="9196" y="597093"/>
                </a:lnTo>
                <a:lnTo>
                  <a:pt x="2334" y="550070"/>
                </a:lnTo>
                <a:lnTo>
                  <a:pt x="0" y="501749"/>
                </a:lnTo>
                <a:lnTo>
                  <a:pt x="2334" y="453427"/>
                </a:lnTo>
                <a:lnTo>
                  <a:pt x="9196" y="406404"/>
                </a:lnTo>
                <a:lnTo>
                  <a:pt x="20371" y="360892"/>
                </a:lnTo>
                <a:lnTo>
                  <a:pt x="35646" y="317099"/>
                </a:lnTo>
                <a:lnTo>
                  <a:pt x="54806" y="275237"/>
                </a:lnTo>
                <a:lnTo>
                  <a:pt x="77638" y="235516"/>
                </a:lnTo>
                <a:lnTo>
                  <a:pt x="103929" y="198146"/>
                </a:lnTo>
                <a:lnTo>
                  <a:pt x="133463" y="163336"/>
                </a:lnTo>
                <a:lnTo>
                  <a:pt x="166029" y="131299"/>
                </a:lnTo>
                <a:lnTo>
                  <a:pt x="201411" y="102243"/>
                </a:lnTo>
                <a:lnTo>
                  <a:pt x="239396" y="76378"/>
                </a:lnTo>
                <a:lnTo>
                  <a:pt x="279770" y="53917"/>
                </a:lnTo>
                <a:lnTo>
                  <a:pt x="322320" y="35067"/>
                </a:lnTo>
                <a:lnTo>
                  <a:pt x="366832" y="20040"/>
                </a:lnTo>
                <a:lnTo>
                  <a:pt x="413091" y="9047"/>
                </a:lnTo>
                <a:lnTo>
                  <a:pt x="460885" y="2296"/>
                </a:lnTo>
                <a:lnTo>
                  <a:pt x="509998" y="0"/>
                </a:lnTo>
                <a:lnTo>
                  <a:pt x="560410" y="2455"/>
                </a:lnTo>
                <a:lnTo>
                  <a:pt x="609964" y="9730"/>
                </a:lnTo>
                <a:lnTo>
                  <a:pt x="658329" y="21688"/>
                </a:lnTo>
                <a:lnTo>
                  <a:pt x="705170" y="38193"/>
                </a:lnTo>
                <a:lnTo>
                  <a:pt x="750154" y="59109"/>
                </a:lnTo>
                <a:lnTo>
                  <a:pt x="792946" y="84299"/>
                </a:lnTo>
                <a:lnTo>
                  <a:pt x="833214" y="113628"/>
                </a:lnTo>
                <a:lnTo>
                  <a:pt x="870623" y="146959"/>
                </a:lnTo>
                <a:lnTo>
                  <a:pt x="904503" y="183762"/>
                </a:lnTo>
                <a:lnTo>
                  <a:pt x="934315" y="223378"/>
                </a:lnTo>
                <a:lnTo>
                  <a:pt x="959919" y="265480"/>
                </a:lnTo>
                <a:lnTo>
                  <a:pt x="981179" y="309737"/>
                </a:lnTo>
                <a:lnTo>
                  <a:pt x="997955" y="355822"/>
                </a:lnTo>
                <a:lnTo>
                  <a:pt x="1010108" y="403405"/>
                </a:lnTo>
                <a:lnTo>
                  <a:pt x="1017502" y="452157"/>
                </a:lnTo>
                <a:lnTo>
                  <a:pt x="1019997" y="501749"/>
                </a:lnTo>
                <a:lnTo>
                  <a:pt x="1017663" y="550070"/>
                </a:lnTo>
                <a:lnTo>
                  <a:pt x="1010802" y="597093"/>
                </a:lnTo>
                <a:lnTo>
                  <a:pt x="999628" y="642605"/>
                </a:lnTo>
                <a:lnTo>
                  <a:pt x="984354" y="686398"/>
                </a:lnTo>
                <a:lnTo>
                  <a:pt x="965196" y="728260"/>
                </a:lnTo>
                <a:lnTo>
                  <a:pt x="942365" y="767981"/>
                </a:lnTo>
                <a:lnTo>
                  <a:pt x="916076" y="805351"/>
                </a:lnTo>
                <a:lnTo>
                  <a:pt x="886542" y="840161"/>
                </a:lnTo>
                <a:lnTo>
                  <a:pt x="853978" y="872198"/>
                </a:lnTo>
                <a:lnTo>
                  <a:pt x="818597" y="901254"/>
                </a:lnTo>
                <a:lnTo>
                  <a:pt x="780612" y="927119"/>
                </a:lnTo>
                <a:lnTo>
                  <a:pt x="740238" y="949581"/>
                </a:lnTo>
                <a:lnTo>
                  <a:pt x="697687" y="968430"/>
                </a:lnTo>
                <a:lnTo>
                  <a:pt x="653174" y="983457"/>
                </a:lnTo>
                <a:lnTo>
                  <a:pt x="606913" y="994450"/>
                </a:lnTo>
                <a:lnTo>
                  <a:pt x="559116" y="1001201"/>
                </a:lnTo>
                <a:lnTo>
                  <a:pt x="509998" y="1003498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288303" y="1152425"/>
            <a:ext cx="488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FFFFFF"/>
                </a:solidFill>
                <a:latin typeface="Calibri"/>
                <a:cs typeface="Calibri"/>
              </a:rPr>
              <a:t>Monitor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70592" y="2075468"/>
            <a:ext cx="1217295" cy="1197610"/>
          </a:xfrm>
          <a:custGeom>
            <a:avLst/>
            <a:gdLst/>
            <a:ahLst/>
            <a:cxnLst/>
            <a:rect l="l" t="t" r="r" b="b"/>
            <a:pathLst>
              <a:path w="1217295" h="1197610">
                <a:moveTo>
                  <a:pt x="608548" y="1197300"/>
                </a:moveTo>
                <a:lnTo>
                  <a:pt x="560990" y="1195499"/>
                </a:lnTo>
                <a:lnTo>
                  <a:pt x="514432" y="1190184"/>
                </a:lnTo>
                <a:lnTo>
                  <a:pt x="469011" y="1181489"/>
                </a:lnTo>
                <a:lnTo>
                  <a:pt x="424862" y="1169547"/>
                </a:lnTo>
                <a:lnTo>
                  <a:pt x="382120" y="1154490"/>
                </a:lnTo>
                <a:lnTo>
                  <a:pt x="340921" y="1136452"/>
                </a:lnTo>
                <a:lnTo>
                  <a:pt x="301399" y="1115566"/>
                </a:lnTo>
                <a:lnTo>
                  <a:pt x="263690" y="1091966"/>
                </a:lnTo>
                <a:lnTo>
                  <a:pt x="227929" y="1065783"/>
                </a:lnTo>
                <a:lnTo>
                  <a:pt x="194252" y="1037152"/>
                </a:lnTo>
                <a:lnTo>
                  <a:pt x="162793" y="1006205"/>
                </a:lnTo>
                <a:lnTo>
                  <a:pt x="133689" y="973075"/>
                </a:lnTo>
                <a:lnTo>
                  <a:pt x="107073" y="937896"/>
                </a:lnTo>
                <a:lnTo>
                  <a:pt x="83083" y="900800"/>
                </a:lnTo>
                <a:lnTo>
                  <a:pt x="61852" y="861921"/>
                </a:lnTo>
                <a:lnTo>
                  <a:pt x="43516" y="821392"/>
                </a:lnTo>
                <a:lnTo>
                  <a:pt x="28211" y="779346"/>
                </a:lnTo>
                <a:lnTo>
                  <a:pt x="16071" y="735915"/>
                </a:lnTo>
                <a:lnTo>
                  <a:pt x="7233" y="691234"/>
                </a:lnTo>
                <a:lnTo>
                  <a:pt x="1830" y="645435"/>
                </a:lnTo>
                <a:lnTo>
                  <a:pt x="0" y="598651"/>
                </a:lnTo>
                <a:lnTo>
                  <a:pt x="1830" y="551866"/>
                </a:lnTo>
                <a:lnTo>
                  <a:pt x="7233" y="506067"/>
                </a:lnTo>
                <a:lnTo>
                  <a:pt x="16071" y="461385"/>
                </a:lnTo>
                <a:lnTo>
                  <a:pt x="28211" y="417955"/>
                </a:lnTo>
                <a:lnTo>
                  <a:pt x="43516" y="375908"/>
                </a:lnTo>
                <a:lnTo>
                  <a:pt x="61852" y="335379"/>
                </a:lnTo>
                <a:lnTo>
                  <a:pt x="83083" y="296500"/>
                </a:lnTo>
                <a:lnTo>
                  <a:pt x="107073" y="259404"/>
                </a:lnTo>
                <a:lnTo>
                  <a:pt x="133689" y="224225"/>
                </a:lnTo>
                <a:lnTo>
                  <a:pt x="162793" y="191095"/>
                </a:lnTo>
                <a:lnTo>
                  <a:pt x="194252" y="160148"/>
                </a:lnTo>
                <a:lnTo>
                  <a:pt x="227929" y="131516"/>
                </a:lnTo>
                <a:lnTo>
                  <a:pt x="263690" y="105334"/>
                </a:lnTo>
                <a:lnTo>
                  <a:pt x="301399" y="81733"/>
                </a:lnTo>
                <a:lnTo>
                  <a:pt x="340921" y="60847"/>
                </a:lnTo>
                <a:lnTo>
                  <a:pt x="382120" y="42809"/>
                </a:lnTo>
                <a:lnTo>
                  <a:pt x="424862" y="27753"/>
                </a:lnTo>
                <a:lnTo>
                  <a:pt x="469011" y="15810"/>
                </a:lnTo>
                <a:lnTo>
                  <a:pt x="514432" y="7115"/>
                </a:lnTo>
                <a:lnTo>
                  <a:pt x="560990" y="1801"/>
                </a:lnTo>
                <a:lnTo>
                  <a:pt x="608548" y="0"/>
                </a:lnTo>
                <a:lnTo>
                  <a:pt x="654755" y="1801"/>
                </a:lnTo>
                <a:lnTo>
                  <a:pt x="656077" y="1801"/>
                </a:lnTo>
                <a:lnTo>
                  <a:pt x="704321" y="7457"/>
                </a:lnTo>
                <a:lnTo>
                  <a:pt x="751101" y="16654"/>
                </a:lnTo>
                <a:lnTo>
                  <a:pt x="796870" y="29386"/>
                </a:lnTo>
                <a:lnTo>
                  <a:pt x="841426" y="45569"/>
                </a:lnTo>
                <a:lnTo>
                  <a:pt x="884563" y="65121"/>
                </a:lnTo>
                <a:lnTo>
                  <a:pt x="926078" y="87957"/>
                </a:lnTo>
                <a:lnTo>
                  <a:pt x="965767" y="113994"/>
                </a:lnTo>
                <a:lnTo>
                  <a:pt x="1003425" y="143151"/>
                </a:lnTo>
                <a:lnTo>
                  <a:pt x="1038847" y="175342"/>
                </a:lnTo>
                <a:lnTo>
                  <a:pt x="1071571" y="210188"/>
                </a:lnTo>
                <a:lnTo>
                  <a:pt x="1101209" y="247234"/>
                </a:lnTo>
                <a:lnTo>
                  <a:pt x="1127678" y="286278"/>
                </a:lnTo>
                <a:lnTo>
                  <a:pt x="1150893" y="327119"/>
                </a:lnTo>
                <a:lnTo>
                  <a:pt x="1170769" y="369556"/>
                </a:lnTo>
                <a:lnTo>
                  <a:pt x="1187221" y="413388"/>
                </a:lnTo>
                <a:lnTo>
                  <a:pt x="1200165" y="458415"/>
                </a:lnTo>
                <a:lnTo>
                  <a:pt x="1209515" y="504435"/>
                </a:lnTo>
                <a:lnTo>
                  <a:pt x="1215187" y="551247"/>
                </a:lnTo>
                <a:lnTo>
                  <a:pt x="1217097" y="598651"/>
                </a:lnTo>
                <a:lnTo>
                  <a:pt x="1215266" y="645435"/>
                </a:lnTo>
                <a:lnTo>
                  <a:pt x="1209863" y="691234"/>
                </a:lnTo>
                <a:lnTo>
                  <a:pt x="1201024" y="735915"/>
                </a:lnTo>
                <a:lnTo>
                  <a:pt x="1188883" y="779346"/>
                </a:lnTo>
                <a:lnTo>
                  <a:pt x="1173577" y="821392"/>
                </a:lnTo>
                <a:lnTo>
                  <a:pt x="1155240" y="861921"/>
                </a:lnTo>
                <a:lnTo>
                  <a:pt x="1134008" y="900800"/>
                </a:lnTo>
                <a:lnTo>
                  <a:pt x="1110017" y="937896"/>
                </a:lnTo>
                <a:lnTo>
                  <a:pt x="1083400" y="973075"/>
                </a:lnTo>
                <a:lnTo>
                  <a:pt x="1054295" y="1006205"/>
                </a:lnTo>
                <a:lnTo>
                  <a:pt x="1022835" y="1037152"/>
                </a:lnTo>
                <a:lnTo>
                  <a:pt x="989157" y="1065783"/>
                </a:lnTo>
                <a:lnTo>
                  <a:pt x="953396" y="1091966"/>
                </a:lnTo>
                <a:lnTo>
                  <a:pt x="915687" y="1115566"/>
                </a:lnTo>
                <a:lnTo>
                  <a:pt x="876165" y="1136452"/>
                </a:lnTo>
                <a:lnTo>
                  <a:pt x="834966" y="1154490"/>
                </a:lnTo>
                <a:lnTo>
                  <a:pt x="792225" y="1169547"/>
                </a:lnTo>
                <a:lnTo>
                  <a:pt x="748077" y="1181489"/>
                </a:lnTo>
                <a:lnTo>
                  <a:pt x="702658" y="1190184"/>
                </a:lnTo>
                <a:lnTo>
                  <a:pt x="656104" y="1195499"/>
                </a:lnTo>
                <a:lnTo>
                  <a:pt x="608548" y="1197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73875" y="2503939"/>
            <a:ext cx="611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b="1" spc="160" dirty="0">
                <a:solidFill>
                  <a:srgbClr val="FFFFFF"/>
                </a:solidFill>
                <a:latin typeface="Calibri"/>
                <a:cs typeface="Calibri"/>
              </a:rPr>
              <a:t>DL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00" b="1" spc="105" dirty="0">
                <a:solidFill>
                  <a:srgbClr val="FFFFFF"/>
                </a:solidFill>
                <a:latin typeface="Calibri"/>
                <a:cs typeface="Calibri"/>
              </a:rPr>
              <a:t>Lifecycle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65688" y="1586399"/>
            <a:ext cx="3638550" cy="2271395"/>
            <a:chOff x="2265688" y="1586399"/>
            <a:chExt cx="3638550" cy="2271395"/>
          </a:xfrm>
        </p:grpSpPr>
        <p:sp>
          <p:nvSpPr>
            <p:cNvPr id="30" name="object 30"/>
            <p:cNvSpPr/>
            <p:nvPr/>
          </p:nvSpPr>
          <p:spPr>
            <a:xfrm>
              <a:off x="3931017" y="3094293"/>
              <a:ext cx="1928495" cy="758190"/>
            </a:xfrm>
            <a:custGeom>
              <a:avLst/>
              <a:gdLst/>
              <a:ahLst/>
              <a:cxnLst/>
              <a:rect l="l" t="t" r="r" b="b"/>
              <a:pathLst>
                <a:path w="1928495" h="758189">
                  <a:moveTo>
                    <a:pt x="0" y="758173"/>
                  </a:moveTo>
                  <a:lnTo>
                    <a:pt x="1928021" y="0"/>
                  </a:lnTo>
                </a:path>
              </a:pathLst>
            </a:custGeom>
            <a:ln w="9524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53288" y="30784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499" y="30474"/>
                  </a:moveTo>
                  <a:lnTo>
                    <a:pt x="0" y="1174"/>
                  </a:lnTo>
                  <a:lnTo>
                    <a:pt x="45974" y="0"/>
                  </a:lnTo>
                  <a:lnTo>
                    <a:pt x="11499" y="30474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53288" y="30784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499" y="30474"/>
                  </a:moveTo>
                  <a:lnTo>
                    <a:pt x="45974" y="0"/>
                  </a:lnTo>
                  <a:lnTo>
                    <a:pt x="0" y="1174"/>
                  </a:lnTo>
                  <a:lnTo>
                    <a:pt x="11499" y="30474"/>
                  </a:lnTo>
                  <a:close/>
                </a:path>
              </a:pathLst>
            </a:custGeom>
            <a:ln w="9524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92792" y="1591161"/>
              <a:ext cx="1966595" cy="752475"/>
            </a:xfrm>
            <a:custGeom>
              <a:avLst/>
              <a:gdLst/>
              <a:ahLst/>
              <a:cxnLst/>
              <a:rect l="l" t="t" r="r" b="b"/>
              <a:pathLst>
                <a:path w="1966595" h="752475">
                  <a:moveTo>
                    <a:pt x="0" y="0"/>
                  </a:moveTo>
                  <a:lnTo>
                    <a:pt x="1966221" y="752080"/>
                  </a:lnTo>
                </a:path>
              </a:pathLst>
            </a:custGeom>
            <a:ln w="9524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53388" y="232855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99" y="30137"/>
                  </a:moveTo>
                  <a:lnTo>
                    <a:pt x="0" y="29387"/>
                  </a:lnTo>
                  <a:lnTo>
                    <a:pt x="11249" y="0"/>
                  </a:lnTo>
                  <a:lnTo>
                    <a:pt x="45999" y="30137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53388" y="232855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29387"/>
                  </a:moveTo>
                  <a:lnTo>
                    <a:pt x="45999" y="30137"/>
                  </a:lnTo>
                  <a:lnTo>
                    <a:pt x="11249" y="0"/>
                  </a:lnTo>
                  <a:lnTo>
                    <a:pt x="0" y="29387"/>
                  </a:lnTo>
                  <a:close/>
                </a:path>
              </a:pathLst>
            </a:custGeom>
            <a:ln w="9524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5688" y="2216805"/>
              <a:ext cx="1020444" cy="1003935"/>
            </a:xfrm>
            <a:custGeom>
              <a:avLst/>
              <a:gdLst/>
              <a:ahLst/>
              <a:cxnLst/>
              <a:rect l="l" t="t" r="r" b="b"/>
              <a:pathLst>
                <a:path w="1020445" h="1003935">
                  <a:moveTo>
                    <a:pt x="510006" y="1003488"/>
                  </a:moveTo>
                  <a:lnTo>
                    <a:pt x="460888" y="1001191"/>
                  </a:lnTo>
                  <a:lnTo>
                    <a:pt x="413091" y="994441"/>
                  </a:lnTo>
                  <a:lnTo>
                    <a:pt x="366829" y="983448"/>
                  </a:lnTo>
                  <a:lnTo>
                    <a:pt x="322316" y="968422"/>
                  </a:lnTo>
                  <a:lnTo>
                    <a:pt x="279765" y="949573"/>
                  </a:lnTo>
                  <a:lnTo>
                    <a:pt x="239390" y="927112"/>
                  </a:lnTo>
                  <a:lnTo>
                    <a:pt x="201405" y="901249"/>
                  </a:lnTo>
                  <a:lnTo>
                    <a:pt x="166023" y="872194"/>
                  </a:lnTo>
                  <a:lnTo>
                    <a:pt x="133458" y="840157"/>
                  </a:lnTo>
                  <a:lnTo>
                    <a:pt x="103924" y="805348"/>
                  </a:lnTo>
                  <a:lnTo>
                    <a:pt x="77634" y="767978"/>
                  </a:lnTo>
                  <a:lnTo>
                    <a:pt x="54803" y="728256"/>
                  </a:lnTo>
                  <a:lnTo>
                    <a:pt x="35644" y="686394"/>
                  </a:lnTo>
                  <a:lnTo>
                    <a:pt x="20370" y="642601"/>
                  </a:lnTo>
                  <a:lnTo>
                    <a:pt x="9195" y="597087"/>
                  </a:lnTo>
                  <a:lnTo>
                    <a:pt x="2334" y="550063"/>
                  </a:lnTo>
                  <a:lnTo>
                    <a:pt x="0" y="501739"/>
                  </a:lnTo>
                  <a:lnTo>
                    <a:pt x="2334" y="453418"/>
                  </a:lnTo>
                  <a:lnTo>
                    <a:pt x="9195" y="406397"/>
                  </a:lnTo>
                  <a:lnTo>
                    <a:pt x="20370" y="360886"/>
                  </a:lnTo>
                  <a:lnTo>
                    <a:pt x="35644" y="317095"/>
                  </a:lnTo>
                  <a:lnTo>
                    <a:pt x="54803" y="275234"/>
                  </a:lnTo>
                  <a:lnTo>
                    <a:pt x="77634" y="235513"/>
                  </a:lnTo>
                  <a:lnTo>
                    <a:pt x="103924" y="198144"/>
                  </a:lnTo>
                  <a:lnTo>
                    <a:pt x="133458" y="163335"/>
                  </a:lnTo>
                  <a:lnTo>
                    <a:pt x="166023" y="131298"/>
                  </a:lnTo>
                  <a:lnTo>
                    <a:pt x="201405" y="102242"/>
                  </a:lnTo>
                  <a:lnTo>
                    <a:pt x="239390" y="76378"/>
                  </a:lnTo>
                  <a:lnTo>
                    <a:pt x="279765" y="53916"/>
                  </a:lnTo>
                  <a:lnTo>
                    <a:pt x="322316" y="35067"/>
                  </a:lnTo>
                  <a:lnTo>
                    <a:pt x="366829" y="20040"/>
                  </a:lnTo>
                  <a:lnTo>
                    <a:pt x="413091" y="9047"/>
                  </a:lnTo>
                  <a:lnTo>
                    <a:pt x="460888" y="2296"/>
                  </a:lnTo>
                  <a:lnTo>
                    <a:pt x="510006" y="0"/>
                  </a:lnTo>
                  <a:lnTo>
                    <a:pt x="560410" y="2455"/>
                  </a:lnTo>
                  <a:lnTo>
                    <a:pt x="609961" y="9729"/>
                  </a:lnTo>
                  <a:lnTo>
                    <a:pt x="658326" y="21688"/>
                  </a:lnTo>
                  <a:lnTo>
                    <a:pt x="705168" y="38193"/>
                  </a:lnTo>
                  <a:lnTo>
                    <a:pt x="750154" y="59108"/>
                  </a:lnTo>
                  <a:lnTo>
                    <a:pt x="792950" y="84298"/>
                  </a:lnTo>
                  <a:lnTo>
                    <a:pt x="833220" y="113627"/>
                  </a:lnTo>
                  <a:lnTo>
                    <a:pt x="870630" y="146957"/>
                  </a:lnTo>
                  <a:lnTo>
                    <a:pt x="904503" y="183759"/>
                  </a:lnTo>
                  <a:lnTo>
                    <a:pt x="934312" y="223375"/>
                  </a:lnTo>
                  <a:lnTo>
                    <a:pt x="959916" y="265475"/>
                  </a:lnTo>
                  <a:lnTo>
                    <a:pt x="981177" y="309731"/>
                  </a:lnTo>
                  <a:lnTo>
                    <a:pt x="997955" y="355814"/>
                  </a:lnTo>
                  <a:lnTo>
                    <a:pt x="1010112" y="403395"/>
                  </a:lnTo>
                  <a:lnTo>
                    <a:pt x="1017509" y="452146"/>
                  </a:lnTo>
                  <a:lnTo>
                    <a:pt x="1020005" y="501739"/>
                  </a:lnTo>
                  <a:lnTo>
                    <a:pt x="1017670" y="550063"/>
                  </a:lnTo>
                  <a:lnTo>
                    <a:pt x="1010808" y="597087"/>
                  </a:lnTo>
                  <a:lnTo>
                    <a:pt x="999633" y="642601"/>
                  </a:lnTo>
                  <a:lnTo>
                    <a:pt x="984359" y="686394"/>
                  </a:lnTo>
                  <a:lnTo>
                    <a:pt x="965198" y="728256"/>
                  </a:lnTo>
                  <a:lnTo>
                    <a:pt x="942366" y="767978"/>
                  </a:lnTo>
                  <a:lnTo>
                    <a:pt x="916076" y="805348"/>
                  </a:lnTo>
                  <a:lnTo>
                    <a:pt x="886541" y="840157"/>
                  </a:lnTo>
                  <a:lnTo>
                    <a:pt x="853976" y="872194"/>
                  </a:lnTo>
                  <a:lnTo>
                    <a:pt x="818594" y="901249"/>
                  </a:lnTo>
                  <a:lnTo>
                    <a:pt x="780609" y="927112"/>
                  </a:lnTo>
                  <a:lnTo>
                    <a:pt x="740234" y="949573"/>
                  </a:lnTo>
                  <a:lnTo>
                    <a:pt x="697684" y="968422"/>
                  </a:lnTo>
                  <a:lnTo>
                    <a:pt x="653173" y="983448"/>
                  </a:lnTo>
                  <a:lnTo>
                    <a:pt x="606913" y="994441"/>
                  </a:lnTo>
                  <a:lnTo>
                    <a:pt x="559120" y="1001191"/>
                  </a:lnTo>
                  <a:lnTo>
                    <a:pt x="510006" y="100348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555470" y="2634610"/>
            <a:ext cx="4406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9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788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pc="280" dirty="0"/>
              <a:t>The</a:t>
            </a:r>
            <a:r>
              <a:rPr spc="120" dirty="0"/>
              <a:t> </a:t>
            </a:r>
            <a:r>
              <a:rPr spc="305" dirty="0"/>
              <a:t>Deep</a:t>
            </a:r>
            <a:r>
              <a:rPr spc="125" dirty="0"/>
              <a:t> </a:t>
            </a:r>
            <a:r>
              <a:rPr spc="275" dirty="0"/>
              <a:t>Learning</a:t>
            </a:r>
            <a:r>
              <a:rPr spc="125" dirty="0"/>
              <a:t> </a:t>
            </a:r>
            <a:r>
              <a:rPr spc="229" dirty="0"/>
              <a:t>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9956" y="1020210"/>
            <a:ext cx="2820670" cy="2820670"/>
            <a:chOff x="2899956" y="1020210"/>
            <a:chExt cx="2820670" cy="2820670"/>
          </a:xfrm>
        </p:grpSpPr>
        <p:sp>
          <p:nvSpPr>
            <p:cNvPr id="3" name="object 3"/>
            <p:cNvSpPr/>
            <p:nvPr/>
          </p:nvSpPr>
          <p:spPr>
            <a:xfrm>
              <a:off x="2904719" y="1024972"/>
              <a:ext cx="2811145" cy="2811145"/>
            </a:xfrm>
            <a:custGeom>
              <a:avLst/>
              <a:gdLst/>
              <a:ahLst/>
              <a:cxnLst/>
              <a:rect l="l" t="t" r="r" b="b"/>
              <a:pathLst>
                <a:path w="2811145" h="2811145">
                  <a:moveTo>
                    <a:pt x="0" y="1405497"/>
                  </a:moveTo>
                  <a:lnTo>
                    <a:pt x="815" y="1357178"/>
                  </a:lnTo>
                  <a:lnTo>
                    <a:pt x="3242" y="1309268"/>
                  </a:lnTo>
                  <a:lnTo>
                    <a:pt x="7256" y="1261793"/>
                  </a:lnTo>
                  <a:lnTo>
                    <a:pt x="12830" y="1214779"/>
                  </a:lnTo>
                  <a:lnTo>
                    <a:pt x="19939" y="1168253"/>
                  </a:lnTo>
                  <a:lnTo>
                    <a:pt x="28555" y="1122240"/>
                  </a:lnTo>
                  <a:lnTo>
                    <a:pt x="38653" y="1076767"/>
                  </a:lnTo>
                  <a:lnTo>
                    <a:pt x="50206" y="1031860"/>
                  </a:lnTo>
                  <a:lnTo>
                    <a:pt x="63189" y="987545"/>
                  </a:lnTo>
                  <a:lnTo>
                    <a:pt x="77575" y="943848"/>
                  </a:lnTo>
                  <a:lnTo>
                    <a:pt x="93338" y="900796"/>
                  </a:lnTo>
                  <a:lnTo>
                    <a:pt x="110452" y="858414"/>
                  </a:lnTo>
                  <a:lnTo>
                    <a:pt x="128891" y="816729"/>
                  </a:lnTo>
                  <a:lnTo>
                    <a:pt x="148628" y="775767"/>
                  </a:lnTo>
                  <a:lnTo>
                    <a:pt x="169638" y="735554"/>
                  </a:lnTo>
                  <a:lnTo>
                    <a:pt x="191894" y="696116"/>
                  </a:lnTo>
                  <a:lnTo>
                    <a:pt x="215369" y="657479"/>
                  </a:lnTo>
                  <a:lnTo>
                    <a:pt x="240039" y="619670"/>
                  </a:lnTo>
                  <a:lnTo>
                    <a:pt x="265877" y="582715"/>
                  </a:lnTo>
                  <a:lnTo>
                    <a:pt x="292856" y="546640"/>
                  </a:lnTo>
                  <a:lnTo>
                    <a:pt x="320950" y="511470"/>
                  </a:lnTo>
                  <a:lnTo>
                    <a:pt x="350134" y="477233"/>
                  </a:lnTo>
                  <a:lnTo>
                    <a:pt x="380381" y="443955"/>
                  </a:lnTo>
                  <a:lnTo>
                    <a:pt x="411664" y="411661"/>
                  </a:lnTo>
                  <a:lnTo>
                    <a:pt x="443959" y="380377"/>
                  </a:lnTo>
                  <a:lnTo>
                    <a:pt x="477237" y="350131"/>
                  </a:lnTo>
                  <a:lnTo>
                    <a:pt x="511475" y="320947"/>
                  </a:lnTo>
                  <a:lnTo>
                    <a:pt x="546644" y="292853"/>
                  </a:lnTo>
                  <a:lnTo>
                    <a:pt x="582719" y="265874"/>
                  </a:lnTo>
                  <a:lnTo>
                    <a:pt x="619675" y="240037"/>
                  </a:lnTo>
                  <a:lnTo>
                    <a:pt x="657484" y="215367"/>
                  </a:lnTo>
                  <a:lnTo>
                    <a:pt x="696120" y="191891"/>
                  </a:lnTo>
                  <a:lnTo>
                    <a:pt x="735558" y="169636"/>
                  </a:lnTo>
                  <a:lnTo>
                    <a:pt x="775771" y="148626"/>
                  </a:lnTo>
                  <a:lnTo>
                    <a:pt x="816733" y="128889"/>
                  </a:lnTo>
                  <a:lnTo>
                    <a:pt x="858418" y="110451"/>
                  </a:lnTo>
                  <a:lnTo>
                    <a:pt x="900800" y="93337"/>
                  </a:lnTo>
                  <a:lnTo>
                    <a:pt x="943852" y="77574"/>
                  </a:lnTo>
                  <a:lnTo>
                    <a:pt x="987549" y="63188"/>
                  </a:lnTo>
                  <a:lnTo>
                    <a:pt x="1031864" y="50205"/>
                  </a:lnTo>
                  <a:lnTo>
                    <a:pt x="1076771" y="38652"/>
                  </a:lnTo>
                  <a:lnTo>
                    <a:pt x="1122243" y="28554"/>
                  </a:lnTo>
                  <a:lnTo>
                    <a:pt x="1168256" y="19938"/>
                  </a:lnTo>
                  <a:lnTo>
                    <a:pt x="1214781" y="12830"/>
                  </a:lnTo>
                  <a:lnTo>
                    <a:pt x="1261795" y="7256"/>
                  </a:lnTo>
                  <a:lnTo>
                    <a:pt x="1309269" y="3242"/>
                  </a:lnTo>
                  <a:lnTo>
                    <a:pt x="1357178" y="814"/>
                  </a:lnTo>
                  <a:lnTo>
                    <a:pt x="1405497" y="0"/>
                  </a:lnTo>
                  <a:lnTo>
                    <a:pt x="1456224" y="914"/>
                  </a:lnTo>
                  <a:lnTo>
                    <a:pt x="1506718" y="3646"/>
                  </a:lnTo>
                  <a:lnTo>
                    <a:pt x="1556935" y="8178"/>
                  </a:lnTo>
                  <a:lnTo>
                    <a:pt x="1606829" y="14489"/>
                  </a:lnTo>
                  <a:lnTo>
                    <a:pt x="1656357" y="22563"/>
                  </a:lnTo>
                  <a:lnTo>
                    <a:pt x="1705475" y="32381"/>
                  </a:lnTo>
                  <a:lnTo>
                    <a:pt x="1754138" y="43925"/>
                  </a:lnTo>
                  <a:lnTo>
                    <a:pt x="1802301" y="57175"/>
                  </a:lnTo>
                  <a:lnTo>
                    <a:pt x="1849921" y="72115"/>
                  </a:lnTo>
                  <a:lnTo>
                    <a:pt x="1896952" y="88725"/>
                  </a:lnTo>
                  <a:lnTo>
                    <a:pt x="1943352" y="106987"/>
                  </a:lnTo>
                  <a:lnTo>
                    <a:pt x="1989075" y="126883"/>
                  </a:lnTo>
                  <a:lnTo>
                    <a:pt x="2034077" y="148394"/>
                  </a:lnTo>
                  <a:lnTo>
                    <a:pt x="2078314" y="171503"/>
                  </a:lnTo>
                  <a:lnTo>
                    <a:pt x="2121741" y="196190"/>
                  </a:lnTo>
                  <a:lnTo>
                    <a:pt x="2164315" y="222437"/>
                  </a:lnTo>
                  <a:lnTo>
                    <a:pt x="2205990" y="250227"/>
                  </a:lnTo>
                  <a:lnTo>
                    <a:pt x="2246723" y="279540"/>
                  </a:lnTo>
                  <a:lnTo>
                    <a:pt x="2286470" y="310358"/>
                  </a:lnTo>
                  <a:lnTo>
                    <a:pt x="2325185" y="342663"/>
                  </a:lnTo>
                  <a:lnTo>
                    <a:pt x="2362825" y="376437"/>
                  </a:lnTo>
                  <a:lnTo>
                    <a:pt x="2399345" y="411661"/>
                  </a:lnTo>
                  <a:lnTo>
                    <a:pt x="2434568" y="448179"/>
                  </a:lnTo>
                  <a:lnTo>
                    <a:pt x="2468341" y="485816"/>
                  </a:lnTo>
                  <a:lnTo>
                    <a:pt x="2500645" y="524529"/>
                  </a:lnTo>
                  <a:lnTo>
                    <a:pt x="2531462" y="564273"/>
                  </a:lnTo>
                  <a:lnTo>
                    <a:pt x="2560774" y="605004"/>
                  </a:lnTo>
                  <a:lnTo>
                    <a:pt x="2588563" y="646678"/>
                  </a:lnTo>
                  <a:lnTo>
                    <a:pt x="2614810" y="689250"/>
                  </a:lnTo>
                  <a:lnTo>
                    <a:pt x="2639496" y="732676"/>
                  </a:lnTo>
                  <a:lnTo>
                    <a:pt x="2662604" y="776912"/>
                  </a:lnTo>
                  <a:lnTo>
                    <a:pt x="2684114" y="821913"/>
                  </a:lnTo>
                  <a:lnTo>
                    <a:pt x="2704010" y="867636"/>
                  </a:lnTo>
                  <a:lnTo>
                    <a:pt x="2722271" y="914035"/>
                  </a:lnTo>
                  <a:lnTo>
                    <a:pt x="2738881" y="961066"/>
                  </a:lnTo>
                  <a:lnTo>
                    <a:pt x="2753820" y="1008686"/>
                  </a:lnTo>
                  <a:lnTo>
                    <a:pt x="2767070" y="1056849"/>
                  </a:lnTo>
                  <a:lnTo>
                    <a:pt x="2778613" y="1105512"/>
                  </a:lnTo>
                  <a:lnTo>
                    <a:pt x="2788431" y="1154630"/>
                  </a:lnTo>
                  <a:lnTo>
                    <a:pt x="2796505" y="1204159"/>
                  </a:lnTo>
                  <a:lnTo>
                    <a:pt x="2802816" y="1254054"/>
                  </a:lnTo>
                  <a:lnTo>
                    <a:pt x="2807347" y="1304272"/>
                  </a:lnTo>
                  <a:lnTo>
                    <a:pt x="2810079" y="1354768"/>
                  </a:lnTo>
                  <a:lnTo>
                    <a:pt x="2810994" y="1405497"/>
                  </a:lnTo>
                  <a:lnTo>
                    <a:pt x="2810179" y="1453815"/>
                  </a:lnTo>
                  <a:lnTo>
                    <a:pt x="2807751" y="1501724"/>
                  </a:lnTo>
                  <a:lnTo>
                    <a:pt x="2803737" y="1549199"/>
                  </a:lnTo>
                  <a:lnTo>
                    <a:pt x="2798163" y="1596212"/>
                  </a:lnTo>
                  <a:lnTo>
                    <a:pt x="2791055" y="1642738"/>
                  </a:lnTo>
                  <a:lnTo>
                    <a:pt x="2782439" y="1688750"/>
                  </a:lnTo>
                  <a:lnTo>
                    <a:pt x="2772341" y="1734223"/>
                  </a:lnTo>
                  <a:lnTo>
                    <a:pt x="2760787" y="1779130"/>
                  </a:lnTo>
                  <a:lnTo>
                    <a:pt x="2747805" y="1823444"/>
                  </a:lnTo>
                  <a:lnTo>
                    <a:pt x="2733418" y="1867141"/>
                  </a:lnTo>
                  <a:lnTo>
                    <a:pt x="2717655" y="1910193"/>
                  </a:lnTo>
                  <a:lnTo>
                    <a:pt x="2700541" y="1952575"/>
                  </a:lnTo>
                  <a:lnTo>
                    <a:pt x="2682103" y="1994260"/>
                  </a:lnTo>
                  <a:lnTo>
                    <a:pt x="2662365" y="2035222"/>
                  </a:lnTo>
                  <a:lnTo>
                    <a:pt x="2641356" y="2075435"/>
                  </a:lnTo>
                  <a:lnTo>
                    <a:pt x="2619100" y="2114873"/>
                  </a:lnTo>
                  <a:lnTo>
                    <a:pt x="2595624" y="2153510"/>
                  </a:lnTo>
                  <a:lnTo>
                    <a:pt x="2570954" y="2191319"/>
                  </a:lnTo>
                  <a:lnTo>
                    <a:pt x="2545117" y="2228274"/>
                  </a:lnTo>
                  <a:lnTo>
                    <a:pt x="2518137" y="2264349"/>
                  </a:lnTo>
                  <a:lnTo>
                    <a:pt x="2490043" y="2299519"/>
                  </a:lnTo>
                  <a:lnTo>
                    <a:pt x="2460859" y="2333756"/>
                  </a:lnTo>
                  <a:lnTo>
                    <a:pt x="2430613" y="2367035"/>
                  </a:lnTo>
                  <a:lnTo>
                    <a:pt x="2399329" y="2399329"/>
                  </a:lnTo>
                  <a:lnTo>
                    <a:pt x="2367035" y="2430613"/>
                  </a:lnTo>
                  <a:lnTo>
                    <a:pt x="2333756" y="2460859"/>
                  </a:lnTo>
                  <a:lnTo>
                    <a:pt x="2299519" y="2490043"/>
                  </a:lnTo>
                  <a:lnTo>
                    <a:pt x="2264349" y="2518137"/>
                  </a:lnTo>
                  <a:lnTo>
                    <a:pt x="2228274" y="2545117"/>
                  </a:lnTo>
                  <a:lnTo>
                    <a:pt x="2191319" y="2570954"/>
                  </a:lnTo>
                  <a:lnTo>
                    <a:pt x="2153510" y="2595624"/>
                  </a:lnTo>
                  <a:lnTo>
                    <a:pt x="2114873" y="2619100"/>
                  </a:lnTo>
                  <a:lnTo>
                    <a:pt x="2075435" y="2641356"/>
                  </a:lnTo>
                  <a:lnTo>
                    <a:pt x="2035222" y="2662365"/>
                  </a:lnTo>
                  <a:lnTo>
                    <a:pt x="1994260" y="2682103"/>
                  </a:lnTo>
                  <a:lnTo>
                    <a:pt x="1952575" y="2700541"/>
                  </a:lnTo>
                  <a:lnTo>
                    <a:pt x="1910193" y="2717655"/>
                  </a:lnTo>
                  <a:lnTo>
                    <a:pt x="1867141" y="2733418"/>
                  </a:lnTo>
                  <a:lnTo>
                    <a:pt x="1823444" y="2747805"/>
                  </a:lnTo>
                  <a:lnTo>
                    <a:pt x="1779130" y="2760787"/>
                  </a:lnTo>
                  <a:lnTo>
                    <a:pt x="1734223" y="2772341"/>
                  </a:lnTo>
                  <a:lnTo>
                    <a:pt x="1688750" y="2782439"/>
                  </a:lnTo>
                  <a:lnTo>
                    <a:pt x="1642738" y="2791055"/>
                  </a:lnTo>
                  <a:lnTo>
                    <a:pt x="1596212" y="2798163"/>
                  </a:lnTo>
                  <a:lnTo>
                    <a:pt x="1549199" y="2803737"/>
                  </a:lnTo>
                  <a:lnTo>
                    <a:pt x="1501724" y="2807751"/>
                  </a:lnTo>
                  <a:lnTo>
                    <a:pt x="1453815" y="2810179"/>
                  </a:lnTo>
                  <a:lnTo>
                    <a:pt x="1405497" y="2810994"/>
                  </a:lnTo>
                  <a:lnTo>
                    <a:pt x="1357178" y="2810179"/>
                  </a:lnTo>
                  <a:lnTo>
                    <a:pt x="1309269" y="2807751"/>
                  </a:lnTo>
                  <a:lnTo>
                    <a:pt x="1261795" y="2803737"/>
                  </a:lnTo>
                  <a:lnTo>
                    <a:pt x="1214781" y="2798163"/>
                  </a:lnTo>
                  <a:lnTo>
                    <a:pt x="1168256" y="2791055"/>
                  </a:lnTo>
                  <a:lnTo>
                    <a:pt x="1122243" y="2782439"/>
                  </a:lnTo>
                  <a:lnTo>
                    <a:pt x="1076771" y="2772341"/>
                  </a:lnTo>
                  <a:lnTo>
                    <a:pt x="1031864" y="2760787"/>
                  </a:lnTo>
                  <a:lnTo>
                    <a:pt x="987549" y="2747805"/>
                  </a:lnTo>
                  <a:lnTo>
                    <a:pt x="943852" y="2733418"/>
                  </a:lnTo>
                  <a:lnTo>
                    <a:pt x="900800" y="2717655"/>
                  </a:lnTo>
                  <a:lnTo>
                    <a:pt x="858418" y="2700541"/>
                  </a:lnTo>
                  <a:lnTo>
                    <a:pt x="816733" y="2682103"/>
                  </a:lnTo>
                  <a:lnTo>
                    <a:pt x="775771" y="2662365"/>
                  </a:lnTo>
                  <a:lnTo>
                    <a:pt x="735558" y="2641356"/>
                  </a:lnTo>
                  <a:lnTo>
                    <a:pt x="696120" y="2619100"/>
                  </a:lnTo>
                  <a:lnTo>
                    <a:pt x="657484" y="2595624"/>
                  </a:lnTo>
                  <a:lnTo>
                    <a:pt x="619675" y="2570954"/>
                  </a:lnTo>
                  <a:lnTo>
                    <a:pt x="582719" y="2545117"/>
                  </a:lnTo>
                  <a:lnTo>
                    <a:pt x="546644" y="2518137"/>
                  </a:lnTo>
                  <a:lnTo>
                    <a:pt x="511475" y="2490043"/>
                  </a:lnTo>
                  <a:lnTo>
                    <a:pt x="477237" y="2460859"/>
                  </a:lnTo>
                  <a:lnTo>
                    <a:pt x="443959" y="2430613"/>
                  </a:lnTo>
                  <a:lnTo>
                    <a:pt x="411664" y="2399329"/>
                  </a:lnTo>
                  <a:lnTo>
                    <a:pt x="380381" y="2367035"/>
                  </a:lnTo>
                  <a:lnTo>
                    <a:pt x="350134" y="2333756"/>
                  </a:lnTo>
                  <a:lnTo>
                    <a:pt x="320950" y="2299519"/>
                  </a:lnTo>
                  <a:lnTo>
                    <a:pt x="292856" y="2264349"/>
                  </a:lnTo>
                  <a:lnTo>
                    <a:pt x="265877" y="2228274"/>
                  </a:lnTo>
                  <a:lnTo>
                    <a:pt x="240039" y="2191319"/>
                  </a:lnTo>
                  <a:lnTo>
                    <a:pt x="215369" y="2153510"/>
                  </a:lnTo>
                  <a:lnTo>
                    <a:pt x="191894" y="2114873"/>
                  </a:lnTo>
                  <a:lnTo>
                    <a:pt x="169638" y="2075435"/>
                  </a:lnTo>
                  <a:lnTo>
                    <a:pt x="148628" y="2035222"/>
                  </a:lnTo>
                  <a:lnTo>
                    <a:pt x="128891" y="1994260"/>
                  </a:lnTo>
                  <a:lnTo>
                    <a:pt x="110452" y="1952575"/>
                  </a:lnTo>
                  <a:lnTo>
                    <a:pt x="93338" y="1910193"/>
                  </a:lnTo>
                  <a:lnTo>
                    <a:pt x="77575" y="1867141"/>
                  </a:lnTo>
                  <a:lnTo>
                    <a:pt x="63189" y="1823444"/>
                  </a:lnTo>
                  <a:lnTo>
                    <a:pt x="50206" y="1779130"/>
                  </a:lnTo>
                  <a:lnTo>
                    <a:pt x="38653" y="1734223"/>
                  </a:lnTo>
                  <a:lnTo>
                    <a:pt x="28555" y="1688750"/>
                  </a:lnTo>
                  <a:lnTo>
                    <a:pt x="19939" y="1642738"/>
                  </a:lnTo>
                  <a:lnTo>
                    <a:pt x="12830" y="1596212"/>
                  </a:lnTo>
                  <a:lnTo>
                    <a:pt x="7256" y="1549199"/>
                  </a:lnTo>
                  <a:lnTo>
                    <a:pt x="3242" y="1501724"/>
                  </a:lnTo>
                  <a:lnTo>
                    <a:pt x="815" y="1453815"/>
                  </a:lnTo>
                  <a:lnTo>
                    <a:pt x="0" y="1405497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8492" y="1877621"/>
              <a:ext cx="1105697" cy="11056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75868" y="3140718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243749" y="487499"/>
                  </a:moveTo>
                  <a:lnTo>
                    <a:pt x="194623" y="482547"/>
                  </a:lnTo>
                  <a:lnTo>
                    <a:pt x="148868" y="468344"/>
                  </a:lnTo>
                  <a:lnTo>
                    <a:pt x="107464" y="445871"/>
                  </a:lnTo>
                  <a:lnTo>
                    <a:pt x="71390" y="416108"/>
                  </a:lnTo>
                  <a:lnTo>
                    <a:pt x="41627" y="380034"/>
                  </a:lnTo>
                  <a:lnTo>
                    <a:pt x="19154" y="338630"/>
                  </a:lnTo>
                  <a:lnTo>
                    <a:pt x="4951" y="292875"/>
                  </a:lnTo>
                  <a:lnTo>
                    <a:pt x="0" y="243749"/>
                  </a:lnTo>
                  <a:lnTo>
                    <a:pt x="4951" y="194623"/>
                  </a:lnTo>
                  <a:lnTo>
                    <a:pt x="19154" y="148868"/>
                  </a:lnTo>
                  <a:lnTo>
                    <a:pt x="41627" y="107464"/>
                  </a:lnTo>
                  <a:lnTo>
                    <a:pt x="71390" y="71390"/>
                  </a:lnTo>
                  <a:lnTo>
                    <a:pt x="107464" y="41627"/>
                  </a:lnTo>
                  <a:lnTo>
                    <a:pt x="148868" y="19154"/>
                  </a:lnTo>
                  <a:lnTo>
                    <a:pt x="194623" y="4951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3"/>
                  </a:lnTo>
                  <a:lnTo>
                    <a:pt x="378981" y="40953"/>
                  </a:lnTo>
                  <a:lnTo>
                    <a:pt x="416087" y="71390"/>
                  </a:lnTo>
                  <a:lnTo>
                    <a:pt x="446545" y="108517"/>
                  </a:lnTo>
                  <a:lnTo>
                    <a:pt x="468945" y="150468"/>
                  </a:lnTo>
                  <a:lnTo>
                    <a:pt x="482772" y="195972"/>
                  </a:lnTo>
                  <a:lnTo>
                    <a:pt x="487499" y="243749"/>
                  </a:lnTo>
                  <a:lnTo>
                    <a:pt x="482547" y="292875"/>
                  </a:lnTo>
                  <a:lnTo>
                    <a:pt x="468344" y="338630"/>
                  </a:lnTo>
                  <a:lnTo>
                    <a:pt x="445871" y="380034"/>
                  </a:lnTo>
                  <a:lnTo>
                    <a:pt x="416108" y="416108"/>
                  </a:lnTo>
                  <a:lnTo>
                    <a:pt x="380034" y="445871"/>
                  </a:lnTo>
                  <a:lnTo>
                    <a:pt x="338630" y="468344"/>
                  </a:lnTo>
                  <a:lnTo>
                    <a:pt x="292875" y="482547"/>
                  </a:lnTo>
                  <a:lnTo>
                    <a:pt x="243749" y="48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75868" y="3140718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0" y="243749"/>
                  </a:moveTo>
                  <a:lnTo>
                    <a:pt x="4951" y="194623"/>
                  </a:lnTo>
                  <a:lnTo>
                    <a:pt x="19154" y="148868"/>
                  </a:lnTo>
                  <a:lnTo>
                    <a:pt x="41627" y="107464"/>
                  </a:lnTo>
                  <a:lnTo>
                    <a:pt x="71390" y="71390"/>
                  </a:lnTo>
                  <a:lnTo>
                    <a:pt x="107464" y="41627"/>
                  </a:lnTo>
                  <a:lnTo>
                    <a:pt x="148868" y="19154"/>
                  </a:lnTo>
                  <a:lnTo>
                    <a:pt x="194623" y="4951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3"/>
                  </a:lnTo>
                  <a:lnTo>
                    <a:pt x="378981" y="40953"/>
                  </a:lnTo>
                  <a:lnTo>
                    <a:pt x="416099" y="71399"/>
                  </a:lnTo>
                  <a:lnTo>
                    <a:pt x="446545" y="108517"/>
                  </a:lnTo>
                  <a:lnTo>
                    <a:pt x="468945" y="150468"/>
                  </a:lnTo>
                  <a:lnTo>
                    <a:pt x="482772" y="195972"/>
                  </a:lnTo>
                  <a:lnTo>
                    <a:pt x="487499" y="243749"/>
                  </a:lnTo>
                  <a:lnTo>
                    <a:pt x="482547" y="292875"/>
                  </a:lnTo>
                  <a:lnTo>
                    <a:pt x="468344" y="338630"/>
                  </a:lnTo>
                  <a:lnTo>
                    <a:pt x="445871" y="380034"/>
                  </a:lnTo>
                  <a:lnTo>
                    <a:pt x="416108" y="416108"/>
                  </a:lnTo>
                  <a:lnTo>
                    <a:pt x="380034" y="445871"/>
                  </a:lnTo>
                  <a:lnTo>
                    <a:pt x="338630" y="468344"/>
                  </a:lnTo>
                  <a:lnTo>
                    <a:pt x="292875" y="482547"/>
                  </a:lnTo>
                  <a:lnTo>
                    <a:pt x="243749" y="487499"/>
                  </a:lnTo>
                  <a:lnTo>
                    <a:pt x="194623" y="482547"/>
                  </a:lnTo>
                  <a:lnTo>
                    <a:pt x="148868" y="468344"/>
                  </a:lnTo>
                  <a:lnTo>
                    <a:pt x="107464" y="445871"/>
                  </a:lnTo>
                  <a:lnTo>
                    <a:pt x="71390" y="416108"/>
                  </a:lnTo>
                  <a:lnTo>
                    <a:pt x="41627" y="380034"/>
                  </a:lnTo>
                  <a:lnTo>
                    <a:pt x="19154" y="338630"/>
                  </a:lnTo>
                  <a:lnTo>
                    <a:pt x="4951" y="292875"/>
                  </a:lnTo>
                  <a:lnTo>
                    <a:pt x="0" y="243749"/>
                  </a:lnTo>
                  <a:close/>
                </a:path>
              </a:pathLst>
            </a:custGeom>
            <a:ln w="38099">
              <a:solidFill>
                <a:srgbClr val="1874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57064" y="3140718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243749" y="487499"/>
                  </a:moveTo>
                  <a:lnTo>
                    <a:pt x="194623" y="482547"/>
                  </a:lnTo>
                  <a:lnTo>
                    <a:pt x="148868" y="468344"/>
                  </a:lnTo>
                  <a:lnTo>
                    <a:pt x="107464" y="445871"/>
                  </a:lnTo>
                  <a:lnTo>
                    <a:pt x="71390" y="416108"/>
                  </a:lnTo>
                  <a:lnTo>
                    <a:pt x="41627" y="380034"/>
                  </a:lnTo>
                  <a:lnTo>
                    <a:pt x="19154" y="338630"/>
                  </a:lnTo>
                  <a:lnTo>
                    <a:pt x="4951" y="292875"/>
                  </a:lnTo>
                  <a:lnTo>
                    <a:pt x="0" y="243749"/>
                  </a:lnTo>
                  <a:lnTo>
                    <a:pt x="4951" y="194623"/>
                  </a:lnTo>
                  <a:lnTo>
                    <a:pt x="19154" y="148868"/>
                  </a:lnTo>
                  <a:lnTo>
                    <a:pt x="41627" y="107464"/>
                  </a:lnTo>
                  <a:lnTo>
                    <a:pt x="71390" y="71390"/>
                  </a:lnTo>
                  <a:lnTo>
                    <a:pt x="107464" y="41627"/>
                  </a:lnTo>
                  <a:lnTo>
                    <a:pt x="148868" y="19154"/>
                  </a:lnTo>
                  <a:lnTo>
                    <a:pt x="194623" y="4951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3"/>
                  </a:lnTo>
                  <a:lnTo>
                    <a:pt x="378981" y="40953"/>
                  </a:lnTo>
                  <a:lnTo>
                    <a:pt x="416087" y="71390"/>
                  </a:lnTo>
                  <a:lnTo>
                    <a:pt x="446545" y="108517"/>
                  </a:lnTo>
                  <a:lnTo>
                    <a:pt x="468945" y="150468"/>
                  </a:lnTo>
                  <a:lnTo>
                    <a:pt x="482772" y="195972"/>
                  </a:lnTo>
                  <a:lnTo>
                    <a:pt x="487499" y="243749"/>
                  </a:lnTo>
                  <a:lnTo>
                    <a:pt x="482547" y="292875"/>
                  </a:lnTo>
                  <a:lnTo>
                    <a:pt x="468344" y="338630"/>
                  </a:lnTo>
                  <a:lnTo>
                    <a:pt x="445871" y="380034"/>
                  </a:lnTo>
                  <a:lnTo>
                    <a:pt x="416108" y="416108"/>
                  </a:lnTo>
                  <a:lnTo>
                    <a:pt x="380034" y="445871"/>
                  </a:lnTo>
                  <a:lnTo>
                    <a:pt x="338630" y="468344"/>
                  </a:lnTo>
                  <a:lnTo>
                    <a:pt x="292875" y="482547"/>
                  </a:lnTo>
                  <a:lnTo>
                    <a:pt x="243749" y="48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57064" y="3140718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0" y="243749"/>
                  </a:moveTo>
                  <a:lnTo>
                    <a:pt x="4951" y="194623"/>
                  </a:lnTo>
                  <a:lnTo>
                    <a:pt x="19154" y="148868"/>
                  </a:lnTo>
                  <a:lnTo>
                    <a:pt x="41627" y="107464"/>
                  </a:lnTo>
                  <a:lnTo>
                    <a:pt x="71390" y="71390"/>
                  </a:lnTo>
                  <a:lnTo>
                    <a:pt x="107464" y="41627"/>
                  </a:lnTo>
                  <a:lnTo>
                    <a:pt x="148868" y="19154"/>
                  </a:lnTo>
                  <a:lnTo>
                    <a:pt x="194623" y="4951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3"/>
                  </a:lnTo>
                  <a:lnTo>
                    <a:pt x="378981" y="40953"/>
                  </a:lnTo>
                  <a:lnTo>
                    <a:pt x="416099" y="71399"/>
                  </a:lnTo>
                  <a:lnTo>
                    <a:pt x="446545" y="108517"/>
                  </a:lnTo>
                  <a:lnTo>
                    <a:pt x="468945" y="150468"/>
                  </a:lnTo>
                  <a:lnTo>
                    <a:pt x="482772" y="195972"/>
                  </a:lnTo>
                  <a:lnTo>
                    <a:pt x="487499" y="243749"/>
                  </a:lnTo>
                  <a:lnTo>
                    <a:pt x="482547" y="292875"/>
                  </a:lnTo>
                  <a:lnTo>
                    <a:pt x="468344" y="338630"/>
                  </a:lnTo>
                  <a:lnTo>
                    <a:pt x="445871" y="380034"/>
                  </a:lnTo>
                  <a:lnTo>
                    <a:pt x="416108" y="416108"/>
                  </a:lnTo>
                  <a:lnTo>
                    <a:pt x="380034" y="445871"/>
                  </a:lnTo>
                  <a:lnTo>
                    <a:pt x="338630" y="468344"/>
                  </a:lnTo>
                  <a:lnTo>
                    <a:pt x="292875" y="482547"/>
                  </a:lnTo>
                  <a:lnTo>
                    <a:pt x="243749" y="487499"/>
                  </a:lnTo>
                  <a:lnTo>
                    <a:pt x="194623" y="482547"/>
                  </a:lnTo>
                  <a:lnTo>
                    <a:pt x="148868" y="468344"/>
                  </a:lnTo>
                  <a:lnTo>
                    <a:pt x="107464" y="445871"/>
                  </a:lnTo>
                  <a:lnTo>
                    <a:pt x="71390" y="416108"/>
                  </a:lnTo>
                  <a:lnTo>
                    <a:pt x="41627" y="380034"/>
                  </a:lnTo>
                  <a:lnTo>
                    <a:pt x="19154" y="338630"/>
                  </a:lnTo>
                  <a:lnTo>
                    <a:pt x="4951" y="292875"/>
                  </a:lnTo>
                  <a:lnTo>
                    <a:pt x="0" y="243749"/>
                  </a:lnTo>
                  <a:close/>
                </a:path>
              </a:pathLst>
            </a:custGeom>
            <a:ln w="38099">
              <a:solidFill>
                <a:srgbClr val="1874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57064" y="1235722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80">
                  <a:moveTo>
                    <a:pt x="243749" y="487499"/>
                  </a:moveTo>
                  <a:lnTo>
                    <a:pt x="194623" y="482546"/>
                  </a:lnTo>
                  <a:lnTo>
                    <a:pt x="148868" y="468344"/>
                  </a:lnTo>
                  <a:lnTo>
                    <a:pt x="107464" y="445870"/>
                  </a:lnTo>
                  <a:lnTo>
                    <a:pt x="71390" y="416106"/>
                  </a:lnTo>
                  <a:lnTo>
                    <a:pt x="41627" y="380032"/>
                  </a:lnTo>
                  <a:lnTo>
                    <a:pt x="19154" y="338628"/>
                  </a:lnTo>
                  <a:lnTo>
                    <a:pt x="4951" y="292873"/>
                  </a:lnTo>
                  <a:lnTo>
                    <a:pt x="0" y="243749"/>
                  </a:lnTo>
                  <a:lnTo>
                    <a:pt x="4951" y="194625"/>
                  </a:lnTo>
                  <a:lnTo>
                    <a:pt x="19154" y="148870"/>
                  </a:lnTo>
                  <a:lnTo>
                    <a:pt x="41627" y="107466"/>
                  </a:lnTo>
                  <a:lnTo>
                    <a:pt x="71390" y="71392"/>
                  </a:lnTo>
                  <a:lnTo>
                    <a:pt x="107464" y="41628"/>
                  </a:lnTo>
                  <a:lnTo>
                    <a:pt x="148868" y="19154"/>
                  </a:lnTo>
                  <a:lnTo>
                    <a:pt x="194623" y="4952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4"/>
                  </a:lnTo>
                  <a:lnTo>
                    <a:pt x="378981" y="40952"/>
                  </a:lnTo>
                  <a:lnTo>
                    <a:pt x="416099" y="71392"/>
                  </a:lnTo>
                  <a:lnTo>
                    <a:pt x="446545" y="108517"/>
                  </a:lnTo>
                  <a:lnTo>
                    <a:pt x="468945" y="150470"/>
                  </a:lnTo>
                  <a:lnTo>
                    <a:pt x="482772" y="195973"/>
                  </a:lnTo>
                  <a:lnTo>
                    <a:pt x="487499" y="243749"/>
                  </a:lnTo>
                  <a:lnTo>
                    <a:pt x="482547" y="292873"/>
                  </a:lnTo>
                  <a:lnTo>
                    <a:pt x="468344" y="338628"/>
                  </a:lnTo>
                  <a:lnTo>
                    <a:pt x="445871" y="380032"/>
                  </a:lnTo>
                  <a:lnTo>
                    <a:pt x="416108" y="416106"/>
                  </a:lnTo>
                  <a:lnTo>
                    <a:pt x="380034" y="445870"/>
                  </a:lnTo>
                  <a:lnTo>
                    <a:pt x="338630" y="468344"/>
                  </a:lnTo>
                  <a:lnTo>
                    <a:pt x="292875" y="482546"/>
                  </a:lnTo>
                  <a:lnTo>
                    <a:pt x="243749" y="48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57064" y="1235722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80">
                  <a:moveTo>
                    <a:pt x="0" y="243749"/>
                  </a:moveTo>
                  <a:lnTo>
                    <a:pt x="4951" y="194625"/>
                  </a:lnTo>
                  <a:lnTo>
                    <a:pt x="19154" y="148870"/>
                  </a:lnTo>
                  <a:lnTo>
                    <a:pt x="41627" y="107466"/>
                  </a:lnTo>
                  <a:lnTo>
                    <a:pt x="71390" y="71392"/>
                  </a:lnTo>
                  <a:lnTo>
                    <a:pt x="107464" y="41628"/>
                  </a:lnTo>
                  <a:lnTo>
                    <a:pt x="148868" y="19154"/>
                  </a:lnTo>
                  <a:lnTo>
                    <a:pt x="194623" y="4952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4"/>
                  </a:lnTo>
                  <a:lnTo>
                    <a:pt x="378981" y="40952"/>
                  </a:lnTo>
                  <a:lnTo>
                    <a:pt x="416099" y="71392"/>
                  </a:lnTo>
                  <a:lnTo>
                    <a:pt x="446545" y="108517"/>
                  </a:lnTo>
                  <a:lnTo>
                    <a:pt x="468945" y="150470"/>
                  </a:lnTo>
                  <a:lnTo>
                    <a:pt x="482772" y="195973"/>
                  </a:lnTo>
                  <a:lnTo>
                    <a:pt x="487499" y="243749"/>
                  </a:lnTo>
                  <a:lnTo>
                    <a:pt x="482547" y="292873"/>
                  </a:lnTo>
                  <a:lnTo>
                    <a:pt x="468344" y="338628"/>
                  </a:lnTo>
                  <a:lnTo>
                    <a:pt x="445871" y="380032"/>
                  </a:lnTo>
                  <a:lnTo>
                    <a:pt x="416108" y="416106"/>
                  </a:lnTo>
                  <a:lnTo>
                    <a:pt x="380034" y="445870"/>
                  </a:lnTo>
                  <a:lnTo>
                    <a:pt x="338630" y="468344"/>
                  </a:lnTo>
                  <a:lnTo>
                    <a:pt x="292875" y="482546"/>
                  </a:lnTo>
                  <a:lnTo>
                    <a:pt x="243749" y="487499"/>
                  </a:lnTo>
                  <a:lnTo>
                    <a:pt x="194623" y="482546"/>
                  </a:lnTo>
                  <a:lnTo>
                    <a:pt x="148868" y="468344"/>
                  </a:lnTo>
                  <a:lnTo>
                    <a:pt x="107464" y="445870"/>
                  </a:lnTo>
                  <a:lnTo>
                    <a:pt x="71390" y="416106"/>
                  </a:lnTo>
                  <a:lnTo>
                    <a:pt x="41627" y="380032"/>
                  </a:lnTo>
                  <a:lnTo>
                    <a:pt x="19154" y="338628"/>
                  </a:lnTo>
                  <a:lnTo>
                    <a:pt x="4951" y="292873"/>
                  </a:lnTo>
                  <a:lnTo>
                    <a:pt x="0" y="243749"/>
                  </a:lnTo>
                  <a:close/>
                </a:path>
              </a:pathLst>
            </a:custGeom>
            <a:ln w="38099">
              <a:solidFill>
                <a:srgbClr val="1874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5868" y="1235722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80">
                  <a:moveTo>
                    <a:pt x="243749" y="487499"/>
                  </a:moveTo>
                  <a:lnTo>
                    <a:pt x="194623" y="482546"/>
                  </a:lnTo>
                  <a:lnTo>
                    <a:pt x="148868" y="468344"/>
                  </a:lnTo>
                  <a:lnTo>
                    <a:pt x="107464" y="445870"/>
                  </a:lnTo>
                  <a:lnTo>
                    <a:pt x="71390" y="416106"/>
                  </a:lnTo>
                  <a:lnTo>
                    <a:pt x="41627" y="380032"/>
                  </a:lnTo>
                  <a:lnTo>
                    <a:pt x="19154" y="338628"/>
                  </a:lnTo>
                  <a:lnTo>
                    <a:pt x="4951" y="292873"/>
                  </a:lnTo>
                  <a:lnTo>
                    <a:pt x="0" y="243749"/>
                  </a:lnTo>
                  <a:lnTo>
                    <a:pt x="4951" y="194625"/>
                  </a:lnTo>
                  <a:lnTo>
                    <a:pt x="19154" y="148870"/>
                  </a:lnTo>
                  <a:lnTo>
                    <a:pt x="41627" y="107466"/>
                  </a:lnTo>
                  <a:lnTo>
                    <a:pt x="71390" y="71392"/>
                  </a:lnTo>
                  <a:lnTo>
                    <a:pt x="107464" y="41628"/>
                  </a:lnTo>
                  <a:lnTo>
                    <a:pt x="148868" y="19154"/>
                  </a:lnTo>
                  <a:lnTo>
                    <a:pt x="194623" y="4952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4"/>
                  </a:lnTo>
                  <a:lnTo>
                    <a:pt x="378981" y="40952"/>
                  </a:lnTo>
                  <a:lnTo>
                    <a:pt x="416099" y="71392"/>
                  </a:lnTo>
                  <a:lnTo>
                    <a:pt x="446545" y="108517"/>
                  </a:lnTo>
                  <a:lnTo>
                    <a:pt x="468945" y="150470"/>
                  </a:lnTo>
                  <a:lnTo>
                    <a:pt x="482772" y="195973"/>
                  </a:lnTo>
                  <a:lnTo>
                    <a:pt x="487499" y="243749"/>
                  </a:lnTo>
                  <a:lnTo>
                    <a:pt x="482547" y="292873"/>
                  </a:lnTo>
                  <a:lnTo>
                    <a:pt x="468344" y="338628"/>
                  </a:lnTo>
                  <a:lnTo>
                    <a:pt x="445871" y="380032"/>
                  </a:lnTo>
                  <a:lnTo>
                    <a:pt x="416108" y="416106"/>
                  </a:lnTo>
                  <a:lnTo>
                    <a:pt x="380034" y="445870"/>
                  </a:lnTo>
                  <a:lnTo>
                    <a:pt x="338630" y="468344"/>
                  </a:lnTo>
                  <a:lnTo>
                    <a:pt x="292875" y="482546"/>
                  </a:lnTo>
                  <a:lnTo>
                    <a:pt x="243749" y="48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5868" y="1235722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80">
                  <a:moveTo>
                    <a:pt x="0" y="243749"/>
                  </a:moveTo>
                  <a:lnTo>
                    <a:pt x="4951" y="194625"/>
                  </a:lnTo>
                  <a:lnTo>
                    <a:pt x="19154" y="148870"/>
                  </a:lnTo>
                  <a:lnTo>
                    <a:pt x="41627" y="107466"/>
                  </a:lnTo>
                  <a:lnTo>
                    <a:pt x="71390" y="71392"/>
                  </a:lnTo>
                  <a:lnTo>
                    <a:pt x="107464" y="41628"/>
                  </a:lnTo>
                  <a:lnTo>
                    <a:pt x="148868" y="19154"/>
                  </a:lnTo>
                  <a:lnTo>
                    <a:pt x="194623" y="4952"/>
                  </a:lnTo>
                  <a:lnTo>
                    <a:pt x="243749" y="0"/>
                  </a:lnTo>
                  <a:lnTo>
                    <a:pt x="291526" y="4726"/>
                  </a:lnTo>
                  <a:lnTo>
                    <a:pt x="337030" y="18554"/>
                  </a:lnTo>
                  <a:lnTo>
                    <a:pt x="378981" y="40952"/>
                  </a:lnTo>
                  <a:lnTo>
                    <a:pt x="416099" y="71392"/>
                  </a:lnTo>
                  <a:lnTo>
                    <a:pt x="446545" y="108517"/>
                  </a:lnTo>
                  <a:lnTo>
                    <a:pt x="468945" y="150470"/>
                  </a:lnTo>
                  <a:lnTo>
                    <a:pt x="482772" y="195973"/>
                  </a:lnTo>
                  <a:lnTo>
                    <a:pt x="487499" y="243749"/>
                  </a:lnTo>
                  <a:lnTo>
                    <a:pt x="482547" y="292873"/>
                  </a:lnTo>
                  <a:lnTo>
                    <a:pt x="468344" y="338628"/>
                  </a:lnTo>
                  <a:lnTo>
                    <a:pt x="445871" y="380032"/>
                  </a:lnTo>
                  <a:lnTo>
                    <a:pt x="416108" y="416106"/>
                  </a:lnTo>
                  <a:lnTo>
                    <a:pt x="380034" y="445870"/>
                  </a:lnTo>
                  <a:lnTo>
                    <a:pt x="338630" y="468344"/>
                  </a:lnTo>
                  <a:lnTo>
                    <a:pt x="292875" y="482546"/>
                  </a:lnTo>
                  <a:lnTo>
                    <a:pt x="243749" y="487499"/>
                  </a:lnTo>
                  <a:lnTo>
                    <a:pt x="194623" y="482546"/>
                  </a:lnTo>
                  <a:lnTo>
                    <a:pt x="148868" y="468344"/>
                  </a:lnTo>
                  <a:lnTo>
                    <a:pt x="107464" y="445870"/>
                  </a:lnTo>
                  <a:lnTo>
                    <a:pt x="71390" y="416106"/>
                  </a:lnTo>
                  <a:lnTo>
                    <a:pt x="41627" y="380032"/>
                  </a:lnTo>
                  <a:lnTo>
                    <a:pt x="19154" y="338628"/>
                  </a:lnTo>
                  <a:lnTo>
                    <a:pt x="4951" y="292873"/>
                  </a:lnTo>
                  <a:lnTo>
                    <a:pt x="0" y="243749"/>
                  </a:lnTo>
                  <a:close/>
                </a:path>
              </a:pathLst>
            </a:custGeom>
            <a:ln w="38099">
              <a:solidFill>
                <a:srgbClr val="1874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987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Azure</a:t>
            </a:r>
            <a:r>
              <a:rPr spc="120" dirty="0"/>
              <a:t> </a:t>
            </a:r>
            <a:r>
              <a:rPr spc="280" dirty="0"/>
              <a:t>Cloud</a:t>
            </a:r>
            <a:r>
              <a:rPr spc="125" dirty="0"/>
              <a:t> </a:t>
            </a:r>
            <a:r>
              <a:rPr spc="245" dirty="0"/>
              <a:t>services</a:t>
            </a:r>
            <a:r>
              <a:rPr spc="125" dirty="0"/>
              <a:t> </a:t>
            </a:r>
            <a:r>
              <a:rPr spc="170" dirty="0"/>
              <a:t>for</a:t>
            </a:r>
            <a:r>
              <a:rPr spc="125" dirty="0"/>
              <a:t> </a:t>
            </a:r>
            <a:r>
              <a:rPr spc="260" dirty="0"/>
              <a:t>Data</a:t>
            </a:r>
            <a:r>
              <a:rPr spc="125" dirty="0"/>
              <a:t> </a:t>
            </a:r>
            <a:r>
              <a:rPr spc="229" dirty="0"/>
              <a:t>Solutions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374" y="1275992"/>
            <a:ext cx="487599" cy="42855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5347" y="1765178"/>
            <a:ext cx="5556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7475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entury Gothic"/>
                <a:cs typeface="Century Gothic"/>
              </a:rPr>
              <a:t>Blob </a:t>
            </a:r>
            <a:r>
              <a:rPr sz="1100" spc="-10" dirty="0">
                <a:latin typeface="Century Gothic"/>
                <a:cs typeface="Century Gothic"/>
              </a:rPr>
              <a:t>Storage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5821" y="974288"/>
            <a:ext cx="446674" cy="36466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575494" y="1411811"/>
            <a:ext cx="3676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entury Gothic"/>
                <a:cs typeface="Century Gothic"/>
              </a:rPr>
              <a:t>Data Lake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371" y="2315845"/>
            <a:ext cx="367603" cy="48759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90642" y="2870876"/>
            <a:ext cx="4654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entury Gothic"/>
                <a:cs typeface="Century Gothic"/>
              </a:rPr>
              <a:t>Azure </a:t>
            </a:r>
            <a:r>
              <a:rPr sz="1100" spc="-10" dirty="0">
                <a:latin typeface="Century Gothic"/>
                <a:cs typeface="Century Gothic"/>
              </a:rPr>
              <a:t>SQLDB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35359" y="1970321"/>
            <a:ext cx="397126" cy="48759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52924" y="2525357"/>
            <a:ext cx="5613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entury Gothic"/>
                <a:cs typeface="Century Gothic"/>
              </a:rPr>
              <a:t>Azure Cosmos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647" y="3540592"/>
            <a:ext cx="607206" cy="69524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38036" y="4303281"/>
            <a:ext cx="5905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entury Gothic"/>
                <a:cs typeface="Century Gothic"/>
              </a:rPr>
              <a:t>Azure Synapse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8808" y="3258442"/>
            <a:ext cx="757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Century Gothic"/>
                <a:cs typeface="Century Gothic"/>
              </a:rPr>
              <a:t>Analytics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7592" y="3258442"/>
            <a:ext cx="82359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entury Gothic"/>
                <a:cs typeface="Century Gothic"/>
              </a:rPr>
              <a:t>AI</a:t>
            </a:r>
            <a:r>
              <a:rPr sz="1300" b="1" spc="-25" dirty="0">
                <a:latin typeface="Century Gothic"/>
                <a:cs typeface="Century Gothic"/>
              </a:rPr>
              <a:t> </a:t>
            </a:r>
            <a:r>
              <a:rPr sz="1300" b="1" dirty="0">
                <a:latin typeface="Century Gothic"/>
                <a:cs typeface="Century Gothic"/>
              </a:rPr>
              <a:t>and</a:t>
            </a:r>
            <a:r>
              <a:rPr sz="1300" b="1" spc="-25" dirty="0">
                <a:latin typeface="Century Gothic"/>
                <a:cs typeface="Century Gothic"/>
              </a:rPr>
              <a:t> ML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17592" y="1353445"/>
            <a:ext cx="96964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Century Gothic"/>
                <a:cs typeface="Century Gothic"/>
              </a:rPr>
              <a:t>Engineering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60115" y="1353445"/>
            <a:ext cx="6432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Century Gothic"/>
                <a:cs typeface="Century Gothic"/>
              </a:rPr>
              <a:t>Storage</a:t>
            </a:r>
            <a:endParaRPr sz="1300">
              <a:latin typeface="Century Gothic"/>
              <a:cs typeface="Century Gothic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9963" y="3739217"/>
            <a:ext cx="928770" cy="62762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965869" y="4389568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entury Gothic"/>
                <a:cs typeface="Century Gothic"/>
              </a:rPr>
              <a:t>Azure</a:t>
            </a:r>
            <a:r>
              <a:rPr sz="1100" spc="-25" dirty="0">
                <a:latin typeface="Century Gothic"/>
                <a:cs typeface="Century Gothic"/>
              </a:rPr>
              <a:t> ML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93227" y="3962104"/>
            <a:ext cx="868680" cy="361950"/>
            <a:chOff x="4693227" y="3962104"/>
            <a:chExt cx="868680" cy="36195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0314" y="3996162"/>
              <a:ext cx="520998" cy="32765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733740" y="3966867"/>
              <a:ext cx="267970" cy="49530"/>
            </a:xfrm>
            <a:custGeom>
              <a:avLst/>
              <a:gdLst/>
              <a:ahLst/>
              <a:cxnLst/>
              <a:rect l="l" t="t" r="r" b="b"/>
              <a:pathLst>
                <a:path w="267970" h="49529">
                  <a:moveTo>
                    <a:pt x="267599" y="49099"/>
                  </a:moveTo>
                  <a:lnTo>
                    <a:pt x="236575" y="26408"/>
                  </a:lnTo>
                  <a:lnTo>
                    <a:pt x="181502" y="6306"/>
                  </a:lnTo>
                  <a:lnTo>
                    <a:pt x="131849" y="0"/>
                  </a:lnTo>
                  <a:lnTo>
                    <a:pt x="106302" y="32"/>
                  </a:lnTo>
                  <a:lnTo>
                    <a:pt x="55835" y="6285"/>
                  </a:lnTo>
                  <a:lnTo>
                    <a:pt x="16299" y="17574"/>
                  </a:lnTo>
                  <a:lnTo>
                    <a:pt x="8974" y="20624"/>
                  </a:lnTo>
                  <a:lnTo>
                    <a:pt x="7149" y="21374"/>
                  </a:lnTo>
                  <a:lnTo>
                    <a:pt x="5324" y="22149"/>
                  </a:lnTo>
                  <a:lnTo>
                    <a:pt x="3524" y="22949"/>
                  </a:lnTo>
                  <a:lnTo>
                    <a:pt x="2649" y="23374"/>
                  </a:lnTo>
                  <a:lnTo>
                    <a:pt x="1749" y="23774"/>
                  </a:lnTo>
                  <a:lnTo>
                    <a:pt x="849" y="24174"/>
                  </a:lnTo>
                  <a:lnTo>
                    <a:pt x="0" y="24599"/>
                  </a:lnTo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95149" y="401310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13121" y="30974"/>
                  </a:moveTo>
                  <a:lnTo>
                    <a:pt x="7468" y="28949"/>
                  </a:lnTo>
                  <a:lnTo>
                    <a:pt x="2865" y="24762"/>
                  </a:lnTo>
                  <a:lnTo>
                    <a:pt x="245" y="19129"/>
                  </a:lnTo>
                  <a:lnTo>
                    <a:pt x="0" y="13128"/>
                  </a:lnTo>
                  <a:lnTo>
                    <a:pt x="2018" y="7469"/>
                  </a:lnTo>
                  <a:lnTo>
                    <a:pt x="6190" y="2862"/>
                  </a:lnTo>
                  <a:lnTo>
                    <a:pt x="11838" y="242"/>
                  </a:lnTo>
                  <a:lnTo>
                    <a:pt x="17846" y="0"/>
                  </a:lnTo>
                  <a:lnTo>
                    <a:pt x="23508" y="2025"/>
                  </a:lnTo>
                  <a:lnTo>
                    <a:pt x="28115" y="6212"/>
                  </a:lnTo>
                  <a:lnTo>
                    <a:pt x="30735" y="11856"/>
                  </a:lnTo>
                  <a:lnTo>
                    <a:pt x="30978" y="17856"/>
                  </a:lnTo>
                  <a:lnTo>
                    <a:pt x="28952" y="23509"/>
                  </a:lnTo>
                  <a:lnTo>
                    <a:pt x="24765" y="28112"/>
                  </a:lnTo>
                  <a:lnTo>
                    <a:pt x="19121" y="30731"/>
                  </a:lnTo>
                  <a:lnTo>
                    <a:pt x="13121" y="30974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95149" y="401310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765" y="28112"/>
                  </a:moveTo>
                  <a:lnTo>
                    <a:pt x="19121" y="30731"/>
                  </a:lnTo>
                  <a:lnTo>
                    <a:pt x="13121" y="30974"/>
                  </a:lnTo>
                  <a:lnTo>
                    <a:pt x="7468" y="28949"/>
                  </a:lnTo>
                  <a:lnTo>
                    <a:pt x="2865" y="24762"/>
                  </a:lnTo>
                  <a:lnTo>
                    <a:pt x="245" y="19129"/>
                  </a:lnTo>
                  <a:lnTo>
                    <a:pt x="0" y="13128"/>
                  </a:lnTo>
                  <a:lnTo>
                    <a:pt x="2018" y="7469"/>
                  </a:lnTo>
                  <a:lnTo>
                    <a:pt x="6190" y="2862"/>
                  </a:lnTo>
                  <a:lnTo>
                    <a:pt x="11838" y="242"/>
                  </a:lnTo>
                  <a:lnTo>
                    <a:pt x="17846" y="0"/>
                  </a:lnTo>
                  <a:lnTo>
                    <a:pt x="23508" y="2025"/>
                  </a:lnTo>
                  <a:lnTo>
                    <a:pt x="28115" y="6212"/>
                  </a:lnTo>
                  <a:lnTo>
                    <a:pt x="30735" y="11856"/>
                  </a:lnTo>
                  <a:lnTo>
                    <a:pt x="30978" y="17856"/>
                  </a:lnTo>
                  <a:lnTo>
                    <a:pt x="28952" y="23509"/>
                  </a:lnTo>
                  <a:lnTo>
                    <a:pt x="24765" y="28112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97990" y="397844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37299"/>
                  </a:moveTo>
                  <a:lnTo>
                    <a:pt x="26899" y="0"/>
                  </a:lnTo>
                  <a:lnTo>
                    <a:pt x="44574" y="26024"/>
                  </a:lnTo>
                  <a:lnTo>
                    <a:pt x="0" y="3729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97990" y="397844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26899" y="0"/>
                  </a:moveTo>
                  <a:lnTo>
                    <a:pt x="0" y="37299"/>
                  </a:lnTo>
                  <a:lnTo>
                    <a:pt x="44574" y="26024"/>
                  </a:lnTo>
                  <a:lnTo>
                    <a:pt x="26899" y="0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60481" y="4378280"/>
            <a:ext cx="6800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entury Gothic"/>
                <a:cs typeface="Century Gothic"/>
              </a:rPr>
              <a:t>Cognitive Services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77516" y="3942767"/>
            <a:ext cx="442099" cy="44807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102928" y="4458290"/>
            <a:ext cx="5911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entury Gothic"/>
                <a:cs typeface="Century Gothic"/>
              </a:rPr>
              <a:t>Open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AI </a:t>
            </a:r>
            <a:r>
              <a:rPr sz="1100" spc="-10" dirty="0">
                <a:latin typeface="Century Gothic"/>
                <a:cs typeface="Century Gothic"/>
              </a:rPr>
              <a:t>Service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87885" y="903788"/>
            <a:ext cx="542348" cy="542348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001627" y="1441300"/>
            <a:ext cx="91566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63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entury Gothic"/>
                <a:cs typeface="Century Gothic"/>
              </a:rPr>
              <a:t>Azure </a:t>
            </a:r>
            <a:r>
              <a:rPr sz="1100" dirty="0">
                <a:latin typeface="Century Gothic"/>
                <a:cs typeface="Century Gothic"/>
              </a:rPr>
              <a:t>Data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Factory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760634" y="2002458"/>
            <a:ext cx="929005" cy="856615"/>
            <a:chOff x="7760634" y="2002458"/>
            <a:chExt cx="929005" cy="856615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60634" y="2002458"/>
              <a:ext cx="928763" cy="48759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81209" y="2370895"/>
              <a:ext cx="487598" cy="487598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67137" y="1968356"/>
            <a:ext cx="487598" cy="459028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281229" y="2481695"/>
            <a:ext cx="6597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entury Gothic"/>
                <a:cs typeface="Century Gothic"/>
              </a:rPr>
              <a:t>Azure Functions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987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pc="305" dirty="0"/>
              <a:t>Deep</a:t>
            </a:r>
            <a:r>
              <a:rPr spc="125" dirty="0"/>
              <a:t> </a:t>
            </a:r>
            <a:r>
              <a:rPr spc="275" dirty="0"/>
              <a:t>Learning</a:t>
            </a:r>
            <a:r>
              <a:rPr spc="130" dirty="0"/>
              <a:t> </a:t>
            </a:r>
            <a:r>
              <a:rPr spc="240" dirty="0"/>
              <a:t>Architecture</a:t>
            </a:r>
            <a:r>
              <a:rPr spc="125" dirty="0"/>
              <a:t> </a:t>
            </a:r>
            <a:r>
              <a:rPr spc="280" dirty="0"/>
              <a:t>on</a:t>
            </a:r>
            <a:r>
              <a:rPr spc="130" dirty="0"/>
              <a:t> </a:t>
            </a:r>
            <a:r>
              <a:rPr spc="250" dirty="0"/>
              <a:t>Azure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551" y="3691805"/>
            <a:ext cx="886695" cy="6460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5935" y="4359758"/>
            <a:ext cx="12801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40" dirty="0">
                <a:latin typeface="Gill Sans MT"/>
                <a:cs typeface="Gill Sans MT"/>
              </a:rPr>
              <a:t>Azure</a:t>
            </a:r>
            <a:r>
              <a:rPr sz="1000" b="1" spc="-20" dirty="0">
                <a:latin typeface="Gill Sans MT"/>
                <a:cs typeface="Gill Sans MT"/>
              </a:rPr>
              <a:t> ML </a:t>
            </a:r>
            <a:r>
              <a:rPr sz="1000" b="1" spc="-10" dirty="0">
                <a:latin typeface="Gill Sans MT"/>
                <a:cs typeface="Gill Sans MT"/>
              </a:rPr>
              <a:t>Workspace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71055" y="852698"/>
            <a:ext cx="1134110" cy="970915"/>
            <a:chOff x="3371055" y="852698"/>
            <a:chExt cx="1134110" cy="9709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0167" y="852698"/>
              <a:ext cx="666748" cy="7037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75818" y="1556459"/>
              <a:ext cx="1124585" cy="262255"/>
            </a:xfrm>
            <a:custGeom>
              <a:avLst/>
              <a:gdLst/>
              <a:ahLst/>
              <a:cxnLst/>
              <a:rect l="l" t="t" r="r" b="b"/>
              <a:pathLst>
                <a:path w="1124585" h="262255">
                  <a:moveTo>
                    <a:pt x="0" y="0"/>
                  </a:moveTo>
                  <a:lnTo>
                    <a:pt x="1124097" y="0"/>
                  </a:lnTo>
                  <a:lnTo>
                    <a:pt x="1124097" y="261899"/>
                  </a:lnTo>
                  <a:lnTo>
                    <a:pt x="0" y="261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2935" y="2289520"/>
            <a:ext cx="866520" cy="6667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65037" y="1593428"/>
            <a:ext cx="946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30" dirty="0">
                <a:solidFill>
                  <a:srgbClr val="212121"/>
                </a:solidFill>
                <a:latin typeface="Gill Sans MT"/>
                <a:cs typeface="Gill Sans MT"/>
              </a:rPr>
              <a:t>Training</a:t>
            </a:r>
            <a:r>
              <a:rPr sz="1000" b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Scripts</a:t>
            </a:r>
            <a:endParaRPr sz="10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7310" y="1990295"/>
            <a:ext cx="1057910" cy="339090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690"/>
              </a:spcBef>
            </a:pP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Blob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Storage</a:t>
            </a:r>
            <a:endParaRPr sz="10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6636" y="2934319"/>
            <a:ext cx="1199515" cy="339090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90"/>
              </a:spcBef>
            </a:pP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Logs</a:t>
            </a:r>
            <a:r>
              <a:rPr sz="10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0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Results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78755" y="2188445"/>
            <a:ext cx="974090" cy="1089660"/>
            <a:chOff x="3478755" y="2188445"/>
            <a:chExt cx="974090" cy="108966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0242" y="2188445"/>
              <a:ext cx="791923" cy="78779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3517" y="2934319"/>
              <a:ext cx="964565" cy="339090"/>
            </a:xfrm>
            <a:custGeom>
              <a:avLst/>
              <a:gdLst/>
              <a:ahLst/>
              <a:cxnLst/>
              <a:rect l="l" t="t" r="r" b="b"/>
              <a:pathLst>
                <a:path w="964564" h="339089">
                  <a:moveTo>
                    <a:pt x="0" y="0"/>
                  </a:moveTo>
                  <a:lnTo>
                    <a:pt x="964198" y="0"/>
                  </a:lnTo>
                  <a:lnTo>
                    <a:pt x="964198" y="338699"/>
                  </a:lnTo>
                  <a:lnTo>
                    <a:pt x="0" y="338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65082" y="3009692"/>
            <a:ext cx="802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Blob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Storage</a:t>
            </a:r>
            <a:endParaRPr sz="1000">
              <a:latin typeface="Gill Sans MT"/>
              <a:cs typeface="Gill Sans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9517" y="3608092"/>
            <a:ext cx="586573" cy="53159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161543" y="4185016"/>
            <a:ext cx="1370330" cy="223520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235"/>
              </a:spcBef>
            </a:pP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Submit</a:t>
            </a:r>
            <a:r>
              <a:rPr sz="1000" b="1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30" dirty="0">
                <a:solidFill>
                  <a:srgbClr val="212121"/>
                </a:solidFill>
                <a:latin typeface="Gill Sans MT"/>
                <a:cs typeface="Gill Sans MT"/>
              </a:rPr>
              <a:t>Training</a:t>
            </a:r>
            <a:r>
              <a:rPr sz="1000" b="1" spc="-25" dirty="0">
                <a:solidFill>
                  <a:srgbClr val="212121"/>
                </a:solidFill>
                <a:latin typeface="Gill Sans MT"/>
                <a:cs typeface="Gill Sans MT"/>
              </a:rPr>
              <a:t> Job</a:t>
            </a:r>
            <a:endParaRPr sz="1000">
              <a:latin typeface="Gill Sans MT"/>
              <a:cs typeface="Gill Sans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1913" y="2243120"/>
            <a:ext cx="586573" cy="4692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142464" y="2103895"/>
            <a:ext cx="1524635" cy="956944"/>
          </a:xfrm>
          <a:prstGeom prst="rect">
            <a:avLst/>
          </a:prstGeom>
          <a:ln w="9524">
            <a:solidFill>
              <a:srgbClr val="575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000">
              <a:latin typeface="Times New Roman"/>
              <a:cs typeface="Times New Roman"/>
            </a:endParaRPr>
          </a:p>
          <a:p>
            <a:pPr marL="210820">
              <a:lnSpc>
                <a:spcPct val="100000"/>
              </a:lnSpc>
            </a:pPr>
            <a:r>
              <a:rPr sz="1000" b="1" spc="-35" dirty="0">
                <a:solidFill>
                  <a:srgbClr val="212121"/>
                </a:solidFill>
                <a:latin typeface="Gill Sans MT"/>
                <a:cs typeface="Gill Sans MT"/>
              </a:rPr>
              <a:t>AzureML</a:t>
            </a:r>
            <a:r>
              <a:rPr sz="1000" b="1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70" dirty="0">
                <a:solidFill>
                  <a:srgbClr val="212121"/>
                </a:solidFill>
                <a:latin typeface="Gill Sans MT"/>
                <a:cs typeface="Gill Sans MT"/>
              </a:rPr>
              <a:t>GPU</a:t>
            </a: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Cluster</a:t>
            </a:r>
            <a:endParaRPr sz="1000">
              <a:latin typeface="Gill Sans MT"/>
              <a:cs typeface="Gill Sans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8346" y="938798"/>
            <a:ext cx="509448" cy="53159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88323" y="1556471"/>
            <a:ext cx="1950720" cy="610870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560"/>
              </a:spcBef>
            </a:pPr>
            <a:r>
              <a:rPr sz="1000" b="1" spc="-25" dirty="0">
                <a:solidFill>
                  <a:srgbClr val="212121"/>
                </a:solidFill>
                <a:latin typeface="Gill Sans MT"/>
                <a:cs typeface="Gill Sans MT"/>
              </a:rPr>
              <a:t>Curated</a:t>
            </a:r>
            <a:r>
              <a:rPr sz="1000" b="1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Environment</a:t>
            </a:r>
            <a:endParaRPr sz="1000">
              <a:latin typeface="Gill Sans MT"/>
              <a:cs typeface="Gill Sans MT"/>
            </a:endParaRPr>
          </a:p>
          <a:p>
            <a:pPr marL="85725" marR="147955">
              <a:lnSpc>
                <a:spcPct val="100000"/>
              </a:lnSpc>
            </a:pP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(fi.</a:t>
            </a:r>
            <a:r>
              <a:rPr sz="1000" b="1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Ready-</a:t>
            </a: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made</a:t>
            </a:r>
            <a:r>
              <a:rPr sz="10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25" dirty="0">
                <a:solidFill>
                  <a:srgbClr val="212121"/>
                </a:solidFill>
                <a:latin typeface="Gill Sans MT"/>
                <a:cs typeface="Gill Sans MT"/>
              </a:rPr>
              <a:t>environment </a:t>
            </a:r>
            <a:r>
              <a:rPr sz="1000" b="1" dirty="0">
                <a:solidFill>
                  <a:srgbClr val="212121"/>
                </a:solidFill>
                <a:latin typeface="Gill Sans MT"/>
                <a:cs typeface="Gill Sans MT"/>
              </a:rPr>
              <a:t>2.</a:t>
            </a:r>
            <a:r>
              <a:rPr sz="1000" b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Gill Sans MT"/>
                <a:cs typeface="Gill Sans MT"/>
              </a:rPr>
              <a:t>Dependencies)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234416" y="1163595"/>
            <a:ext cx="1680210" cy="2751455"/>
            <a:chOff x="4234416" y="1163595"/>
            <a:chExt cx="1680210" cy="2751455"/>
          </a:xfrm>
        </p:grpSpPr>
        <p:sp>
          <p:nvSpPr>
            <p:cNvPr id="23" name="object 23"/>
            <p:cNvSpPr/>
            <p:nvPr/>
          </p:nvSpPr>
          <p:spPr>
            <a:xfrm>
              <a:off x="4381216" y="1204585"/>
              <a:ext cx="1524000" cy="899794"/>
            </a:xfrm>
            <a:custGeom>
              <a:avLst/>
              <a:gdLst/>
              <a:ahLst/>
              <a:cxnLst/>
              <a:rect l="l" t="t" r="r" b="b"/>
              <a:pathLst>
                <a:path w="1524000" h="899794">
                  <a:moveTo>
                    <a:pt x="0" y="0"/>
                  </a:moveTo>
                  <a:lnTo>
                    <a:pt x="1523396" y="0"/>
                  </a:lnTo>
                  <a:lnTo>
                    <a:pt x="1523396" y="899398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5241" y="1163595"/>
              <a:ext cx="105499" cy="8198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55966" y="2582094"/>
              <a:ext cx="772795" cy="635"/>
            </a:xfrm>
            <a:custGeom>
              <a:avLst/>
              <a:gdLst/>
              <a:ahLst/>
              <a:cxnLst/>
              <a:rect l="l" t="t" r="r" b="b"/>
              <a:pathLst>
                <a:path w="772795" h="635">
                  <a:moveTo>
                    <a:pt x="0" y="249"/>
                  </a:moveTo>
                  <a:lnTo>
                    <a:pt x="772198" y="0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8639" y="2541094"/>
              <a:ext cx="105499" cy="819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30391" y="3060293"/>
              <a:ext cx="1574165" cy="814069"/>
            </a:xfrm>
            <a:custGeom>
              <a:avLst/>
              <a:gdLst/>
              <a:ahLst/>
              <a:cxnLst/>
              <a:rect l="l" t="t" r="r" b="b"/>
              <a:pathLst>
                <a:path w="1574164" h="814070">
                  <a:moveTo>
                    <a:pt x="0" y="813598"/>
                  </a:moveTo>
                  <a:lnTo>
                    <a:pt x="1574096" y="813598"/>
                  </a:lnTo>
                  <a:lnTo>
                    <a:pt x="1574096" y="0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34416" y="3832892"/>
              <a:ext cx="105499" cy="819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642619" y="2470494"/>
            <a:ext cx="509905" cy="223520"/>
          </a:xfrm>
          <a:prstGeom prst="rect">
            <a:avLst/>
          </a:prstGeom>
          <a:solidFill>
            <a:srgbClr val="EFEFEF"/>
          </a:solidFill>
          <a:ln w="9524">
            <a:solidFill>
              <a:srgbClr val="424242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235"/>
              </a:spcBef>
            </a:pPr>
            <a:r>
              <a:rPr sz="1000" b="1" spc="-20" dirty="0">
                <a:solidFill>
                  <a:srgbClr val="212121"/>
                </a:solidFill>
                <a:latin typeface="Gill Sans MT"/>
                <a:cs typeface="Gill Sans MT"/>
              </a:rPr>
              <a:t>Data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54096" y="1163595"/>
            <a:ext cx="5853430" cy="3142615"/>
            <a:chOff x="1754096" y="1163595"/>
            <a:chExt cx="5853430" cy="3142615"/>
          </a:xfrm>
        </p:grpSpPr>
        <p:sp>
          <p:nvSpPr>
            <p:cNvPr id="31" name="object 31"/>
            <p:cNvSpPr/>
            <p:nvPr/>
          </p:nvSpPr>
          <p:spPr>
            <a:xfrm>
              <a:off x="2191970" y="1204585"/>
              <a:ext cx="1408430" cy="0"/>
            </a:xfrm>
            <a:custGeom>
              <a:avLst/>
              <a:gdLst/>
              <a:ahLst/>
              <a:cxnLst/>
              <a:rect l="l" t="t" r="r" b="b"/>
              <a:pathLst>
                <a:path w="1408429">
                  <a:moveTo>
                    <a:pt x="1408197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5995" y="1163595"/>
              <a:ext cx="105499" cy="8198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3621" y="2166970"/>
              <a:ext cx="1751964" cy="1707514"/>
            </a:xfrm>
            <a:custGeom>
              <a:avLst/>
              <a:gdLst/>
              <a:ahLst/>
              <a:cxnLst/>
              <a:rect l="l" t="t" r="r" b="b"/>
              <a:pathLst>
                <a:path w="1751964" h="1707514">
                  <a:moveTo>
                    <a:pt x="0" y="0"/>
                  </a:moveTo>
                  <a:lnTo>
                    <a:pt x="0" y="1706996"/>
                  </a:lnTo>
                  <a:lnTo>
                    <a:pt x="1751696" y="1706996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05792" y="3832967"/>
              <a:ext cx="105499" cy="8199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31640" y="3387318"/>
              <a:ext cx="3034665" cy="909319"/>
            </a:xfrm>
            <a:custGeom>
              <a:avLst/>
              <a:gdLst/>
              <a:ahLst/>
              <a:cxnLst/>
              <a:rect l="l" t="t" r="r" b="b"/>
              <a:pathLst>
                <a:path w="3034665" h="909320">
                  <a:moveTo>
                    <a:pt x="0" y="909298"/>
                  </a:moveTo>
                  <a:lnTo>
                    <a:pt x="3034493" y="909298"/>
                  </a:lnTo>
                  <a:lnTo>
                    <a:pt x="3034493" y="0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5134" y="3291343"/>
              <a:ext cx="81999" cy="1054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53368" y="2569694"/>
              <a:ext cx="359410" cy="1270"/>
            </a:xfrm>
            <a:custGeom>
              <a:avLst/>
              <a:gdLst/>
              <a:ahLst/>
              <a:cxnLst/>
              <a:rect l="l" t="t" r="r" b="b"/>
              <a:pathLst>
                <a:path w="359410" h="1269">
                  <a:moveTo>
                    <a:pt x="0" y="0"/>
                  </a:moveTo>
                  <a:lnTo>
                    <a:pt x="359099" y="1149"/>
                  </a:lnTo>
                </a:path>
              </a:pathLst>
            </a:custGeom>
            <a:ln w="19049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02842" y="2529844"/>
              <a:ext cx="105599" cy="81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573" y="2001173"/>
            <a:ext cx="51377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260" dirty="0"/>
              <a:t>Neural</a:t>
            </a:r>
            <a:r>
              <a:rPr sz="2500" spc="155" dirty="0"/>
              <a:t> </a:t>
            </a:r>
            <a:r>
              <a:rPr sz="2500" spc="310" dirty="0"/>
              <a:t>Network</a:t>
            </a:r>
            <a:r>
              <a:rPr sz="2500" spc="160" dirty="0"/>
              <a:t> </a:t>
            </a:r>
            <a:r>
              <a:rPr sz="2500" spc="240" dirty="0"/>
              <a:t>(NN)</a:t>
            </a:r>
            <a:r>
              <a:rPr sz="2500" spc="160" dirty="0"/>
              <a:t> </a:t>
            </a:r>
            <a:r>
              <a:rPr sz="2500" spc="285" dirty="0"/>
              <a:t>Overview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987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pc="280" dirty="0"/>
              <a:t>Basic</a:t>
            </a:r>
            <a:r>
              <a:rPr spc="125" dirty="0"/>
              <a:t> </a:t>
            </a:r>
            <a:r>
              <a:rPr spc="305" dirty="0"/>
              <a:t>NN</a:t>
            </a:r>
            <a:r>
              <a:rPr spc="125" dirty="0"/>
              <a:t> </a:t>
            </a:r>
            <a:r>
              <a:rPr spc="229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872" y="957248"/>
            <a:ext cx="5191114" cy="3305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987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Convolutional</a:t>
            </a:r>
            <a:r>
              <a:rPr spc="145" dirty="0"/>
              <a:t> </a:t>
            </a:r>
            <a:r>
              <a:rPr spc="26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8" y="834673"/>
            <a:ext cx="6768486" cy="38087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987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Pooling</a:t>
            </a:r>
            <a:r>
              <a:rPr spc="114" dirty="0"/>
              <a:t> </a:t>
            </a:r>
            <a:r>
              <a:rPr spc="26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8" y="811398"/>
            <a:ext cx="6803536" cy="38284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573" y="1946817"/>
            <a:ext cx="6852284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400" spc="345" dirty="0"/>
              <a:t>Now</a:t>
            </a:r>
            <a:r>
              <a:rPr sz="2400" spc="140" dirty="0"/>
              <a:t> </a:t>
            </a:r>
            <a:r>
              <a:rPr sz="2400" spc="175" dirty="0"/>
              <a:t>let’s</a:t>
            </a:r>
            <a:r>
              <a:rPr sz="2400" spc="145" dirty="0"/>
              <a:t> </a:t>
            </a:r>
            <a:r>
              <a:rPr sz="2400" spc="345" dirty="0"/>
              <a:t>jump</a:t>
            </a:r>
            <a:r>
              <a:rPr sz="2400" spc="145" dirty="0"/>
              <a:t> </a:t>
            </a:r>
            <a:r>
              <a:rPr sz="2400" spc="215" dirty="0"/>
              <a:t>to</a:t>
            </a:r>
            <a:r>
              <a:rPr sz="2400" spc="145" dirty="0"/>
              <a:t> </a:t>
            </a:r>
            <a:r>
              <a:rPr sz="2400" spc="180" dirty="0"/>
              <a:t>-</a:t>
            </a:r>
            <a:r>
              <a:rPr sz="2400" spc="145" dirty="0"/>
              <a:t> </a:t>
            </a:r>
            <a:r>
              <a:rPr sz="2400" spc="295" dirty="0"/>
              <a:t>“Hands-</a:t>
            </a:r>
            <a:r>
              <a:rPr sz="2400" spc="375" dirty="0"/>
              <a:t>On</a:t>
            </a:r>
            <a:r>
              <a:rPr sz="2400" spc="145" dirty="0"/>
              <a:t> </a:t>
            </a:r>
            <a:r>
              <a:rPr sz="2400" spc="270" dirty="0"/>
              <a:t>Training</a:t>
            </a:r>
            <a:r>
              <a:rPr sz="2400" spc="140" dirty="0"/>
              <a:t> </a:t>
            </a:r>
            <a:r>
              <a:rPr sz="2400" spc="190" dirty="0"/>
              <a:t>of </a:t>
            </a:r>
            <a:r>
              <a:rPr sz="2400" spc="350" dirty="0"/>
              <a:t>Deep</a:t>
            </a:r>
            <a:r>
              <a:rPr sz="2400" spc="140" dirty="0"/>
              <a:t> </a:t>
            </a:r>
            <a:r>
              <a:rPr sz="2400" spc="315" dirty="0"/>
              <a:t>Learning</a:t>
            </a:r>
            <a:r>
              <a:rPr sz="2400" spc="145" dirty="0"/>
              <a:t> </a:t>
            </a:r>
            <a:r>
              <a:rPr sz="2400" spc="260" dirty="0"/>
              <a:t>Models</a:t>
            </a:r>
            <a:r>
              <a:rPr sz="2400" spc="140" dirty="0"/>
              <a:t> </a:t>
            </a:r>
            <a:r>
              <a:rPr sz="2400" spc="240" dirty="0"/>
              <a:t>in</a:t>
            </a:r>
            <a:r>
              <a:rPr sz="2400" spc="145" dirty="0"/>
              <a:t> </a:t>
            </a:r>
            <a:r>
              <a:rPr sz="2400" spc="305" dirty="0"/>
              <a:t>Azure</a:t>
            </a:r>
            <a:r>
              <a:rPr sz="2400" spc="145" dirty="0"/>
              <a:t> </a:t>
            </a:r>
            <a:r>
              <a:rPr sz="2400" spc="310" dirty="0"/>
              <a:t>ML</a:t>
            </a:r>
            <a:r>
              <a:rPr sz="2400" spc="140" dirty="0"/>
              <a:t> </a:t>
            </a:r>
            <a:r>
              <a:rPr sz="2400" spc="254" dirty="0"/>
              <a:t>Studio”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33"/>
            <a:ext cx="9144635" cy="5144135"/>
          </a:xfrm>
          <a:custGeom>
            <a:avLst/>
            <a:gdLst/>
            <a:ahLst/>
            <a:cxnLst/>
            <a:rect l="l" t="t" r="r" b="b"/>
            <a:pathLst>
              <a:path w="9144635" h="5144135">
                <a:moveTo>
                  <a:pt x="9144556" y="5143798"/>
                </a:moveTo>
                <a:lnTo>
                  <a:pt x="0" y="5143798"/>
                </a:lnTo>
                <a:lnTo>
                  <a:pt x="0" y="0"/>
                </a:lnTo>
                <a:lnTo>
                  <a:pt x="9144556" y="0"/>
                </a:lnTo>
                <a:lnTo>
                  <a:pt x="9144556" y="5143798"/>
                </a:lnTo>
                <a:close/>
              </a:path>
            </a:pathLst>
          </a:custGeom>
          <a:solidFill>
            <a:srgbClr val="0E3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2487" y="514448"/>
            <a:ext cx="2095115" cy="37033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57495" y="4861664"/>
            <a:ext cx="1441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424242"/>
                </a:solidFill>
                <a:latin typeface="Arial"/>
                <a:cs typeface="Arial"/>
              </a:rPr>
              <a:t>fi6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1A879D5-4231-35FE-3517-F6875F0F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237</Words>
  <Application>Microsoft Office PowerPoint</Application>
  <PresentationFormat>On-screen Show (16:9)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Gill Sans MT</vt:lpstr>
      <vt:lpstr>Times New Roman</vt:lpstr>
      <vt:lpstr>Office Theme</vt:lpstr>
      <vt:lpstr>Deploying Neural Network Models for Customer Churn Prediction</vt:lpstr>
      <vt:lpstr>Agenda</vt:lpstr>
      <vt:lpstr>The Deep Learning Lifecycle</vt:lpstr>
      <vt:lpstr>Azure Cloud services for Data Solutions</vt:lpstr>
      <vt:lpstr>Deep Learning Architecture on Azure</vt:lpstr>
      <vt:lpstr>Neural Network (NN) Overview</vt:lpstr>
      <vt:lpstr>Basic NN Architecture</vt:lpstr>
      <vt:lpstr>Convolutional Process</vt:lpstr>
      <vt:lpstr>Pooling Process</vt:lpstr>
      <vt:lpstr>Now let’s jump to - “Hands-On Training of Deep Learning Models in Azure ML Studio”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AI Professional_Marketing_Webinar - 22-02</dc:title>
  <cp:lastModifiedBy>Sanjay H</cp:lastModifiedBy>
  <cp:revision>1</cp:revision>
  <dcterms:created xsi:type="dcterms:W3CDTF">2026-05-07T17:51:46Z</dcterms:created>
  <dcterms:modified xsi:type="dcterms:W3CDTF">2026-05-07T17:55:46Z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2026-05-07T00:00:00Z</vt:filetime>
  </property>
  <property fmtid="{D5CDD505-2E9C-101B-9397-08002B2CF9AE}" pid="5" name="Producer">
    <vt:lpwstr>3-Heights(TM) PDF Security Shell 4.8.25.2 (http://www.pdf-tools.com)</vt:lpwstr>
  </property>
</Properties>
</file>